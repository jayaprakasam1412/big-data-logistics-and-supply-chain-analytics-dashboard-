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583680" y="-1371600"/>
            <a:ext cx="5029200" cy="5029200"/>
          </a:xfrm>
          <a:prstGeom prst="ellipse">
            <a:avLst/>
          </a:prstGeom>
          <a:solidFill>
            <a:srgbClr val="065A82">
              <a:alpha val="25000"/>
            </a:srgbClr>
          </a:solidFill>
          <a:ln w="12700">
            <a:solidFill>
              <a:srgbClr val="065A82">
                <a:alpha val="25000"/>
              </a:srgbClr>
            </a:solidFill>
            <a:prstDash val="solid"/>
          </a:ln>
        </p:spPr>
      </p:sp>
      <p:sp>
        <p:nvSpPr>
          <p:cNvPr id="3" name="Shape 1"/>
          <p:cNvSpPr/>
          <p:nvPr/>
        </p:nvSpPr>
        <p:spPr>
          <a:xfrm>
            <a:off x="7132320" y="-731520"/>
            <a:ext cx="3474720" cy="3474720"/>
          </a:xfrm>
          <a:prstGeom prst="ellipse">
            <a:avLst/>
          </a:prstGeom>
          <a:solidFill>
            <a:srgbClr val="02C39A">
              <a:alpha val="18000"/>
            </a:srgbClr>
          </a:solidFill>
          <a:ln w="12700">
            <a:solidFill>
              <a:srgbClr val="02C39A">
                <a:alpha val="18000"/>
              </a:srgbClr>
            </a:solidFill>
            <a:prstDash val="solid"/>
          </a:ln>
        </p:spPr>
      </p:sp>
      <p:sp>
        <p:nvSpPr>
          <p:cNvPr id="4" name="Text 2"/>
          <p:cNvSpPr/>
          <p:nvPr/>
        </p:nvSpPr>
        <p:spPr>
          <a:xfrm>
            <a:off x="548640" y="640080"/>
            <a:ext cx="7772400" cy="822960"/>
          </a:xfrm>
          <a:prstGeom prst="rect">
            <a:avLst/>
          </a:prstGeom>
          <a:noFill/>
          <a:ln/>
        </p:spPr>
        <p:txBody>
          <a:bodyPr wrap="square"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Big Data Logistics &amp;</a:t>
            </a:r>
            <a:endParaRPr lang="en-US" sz="3600" dirty="0"/>
          </a:p>
        </p:txBody>
      </p:sp>
      <p:sp>
        <p:nvSpPr>
          <p:cNvPr id="5" name="Text 3"/>
          <p:cNvSpPr/>
          <p:nvPr/>
        </p:nvSpPr>
        <p:spPr>
          <a:xfrm>
            <a:off x="548640" y="1371600"/>
            <a:ext cx="7772400" cy="822960"/>
          </a:xfrm>
          <a:prstGeom prst="rect">
            <a:avLst/>
          </a:prstGeom>
          <a:noFill/>
          <a:ln/>
        </p:spPr>
        <p:txBody>
          <a:bodyPr wrap="square" rtlCol="0" anchor="ctr"/>
          <a:lstStyle/>
          <a:p>
            <a:pPr algn="l" indent="0" marL="0">
              <a:buNone/>
            </a:pPr>
            <a:r>
              <a:rPr lang="en-US" sz="3600" b="1" dirty="0">
                <a:solidFill>
                  <a:srgbClr val="02C39A"/>
                </a:solidFill>
                <a:latin typeface="Cambria" pitchFamily="34" charset="0"/>
                <a:ea typeface="Cambria" pitchFamily="34" charset="-122"/>
                <a:cs typeface="Cambria" pitchFamily="34" charset="-120"/>
              </a:rPr>
              <a:t>Supply Chain Analytics Dashboard</a:t>
            </a:r>
            <a:endParaRPr lang="en-US" sz="3600" dirty="0"/>
          </a:p>
        </p:txBody>
      </p:sp>
      <p:sp>
        <p:nvSpPr>
          <p:cNvPr id="6" name="Text 4"/>
          <p:cNvSpPr/>
          <p:nvPr/>
        </p:nvSpPr>
        <p:spPr>
          <a:xfrm>
            <a:off x="548640" y="2286000"/>
            <a:ext cx="6400800" cy="411480"/>
          </a:xfrm>
          <a:prstGeom prst="rect">
            <a:avLst/>
          </a:prstGeom>
          <a:noFill/>
          <a:ln/>
        </p:spPr>
        <p:txBody>
          <a:bodyPr wrap="square" rtlCol="0" anchor="ctr"/>
          <a:lstStyle/>
          <a:p>
            <a:pPr algn="l" indent="0" marL="0">
              <a:buNone/>
            </a:pPr>
            <a:r>
              <a:rPr lang="en-US" sz="1600" i="1" dirty="0">
                <a:solidFill>
                  <a:srgbClr val="94A3B8"/>
                </a:solidFill>
                <a:latin typeface="Calibri" pitchFamily="34" charset="0"/>
                <a:ea typeface="Calibri" pitchFamily="34" charset="-122"/>
                <a:cs typeface="Calibri" pitchFamily="34" charset="-120"/>
              </a:rPr>
              <a:t>Internship Project Report</a:t>
            </a:r>
            <a:endParaRPr lang="en-US" sz="1600" dirty="0"/>
          </a:p>
        </p:txBody>
      </p:sp>
      <p:sp>
        <p:nvSpPr>
          <p:cNvPr id="7" name="Shape 5"/>
          <p:cNvSpPr/>
          <p:nvPr/>
        </p:nvSpPr>
        <p:spPr>
          <a:xfrm>
            <a:off x="548640" y="3200400"/>
            <a:ext cx="1920240" cy="1280160"/>
          </a:xfrm>
          <a:prstGeom prst="roundRect">
            <a:avLst>
              <a:gd name="adj" fmla="val 5714"/>
            </a:avLst>
          </a:prstGeom>
          <a:solidFill>
            <a:srgbClr val="065A82">
              <a:alpha val="30000"/>
            </a:srgbClr>
          </a:solidFill>
          <a:ln w="12700">
            <a:solidFill>
              <a:srgbClr val="02C39A">
                <a:alpha val="50000"/>
              </a:srgbClr>
            </a:solidFill>
            <a:prstDash val="solid"/>
          </a:ln>
        </p:spPr>
      </p:sp>
      <p:sp>
        <p:nvSpPr>
          <p:cNvPr id="8" name="Text 6"/>
          <p:cNvSpPr/>
          <p:nvPr/>
        </p:nvSpPr>
        <p:spPr>
          <a:xfrm>
            <a:off x="548640" y="3291840"/>
            <a:ext cx="192024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Presented By</a:t>
            </a:r>
            <a:endParaRPr lang="en-US" sz="1000" dirty="0"/>
          </a:p>
        </p:txBody>
      </p:sp>
      <p:sp>
        <p:nvSpPr>
          <p:cNvPr id="9" name="Text 7"/>
          <p:cNvSpPr/>
          <p:nvPr/>
        </p:nvSpPr>
        <p:spPr>
          <a:xfrm>
            <a:off x="548640" y="3611880"/>
            <a:ext cx="192024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Jayaprakasam</a:t>
            </a:r>
            <a:endParaRPr lang="en-US" sz="1200" dirty="0"/>
          </a:p>
        </p:txBody>
      </p:sp>
      <p:sp>
        <p:nvSpPr>
          <p:cNvPr id="10" name="Shape 8"/>
          <p:cNvSpPr/>
          <p:nvPr/>
        </p:nvSpPr>
        <p:spPr>
          <a:xfrm>
            <a:off x="2651760" y="3200400"/>
            <a:ext cx="1920240" cy="1280160"/>
          </a:xfrm>
          <a:prstGeom prst="roundRect">
            <a:avLst>
              <a:gd name="adj" fmla="val 5714"/>
            </a:avLst>
          </a:prstGeom>
          <a:solidFill>
            <a:srgbClr val="065A82">
              <a:alpha val="30000"/>
            </a:srgbClr>
          </a:solidFill>
          <a:ln w="12700">
            <a:solidFill>
              <a:srgbClr val="02C39A">
                <a:alpha val="50000"/>
              </a:srgbClr>
            </a:solidFill>
            <a:prstDash val="solid"/>
          </a:ln>
        </p:spPr>
      </p:sp>
      <p:sp>
        <p:nvSpPr>
          <p:cNvPr id="11" name="Text 9"/>
          <p:cNvSpPr/>
          <p:nvPr/>
        </p:nvSpPr>
        <p:spPr>
          <a:xfrm>
            <a:off x="2651760" y="3291840"/>
            <a:ext cx="192024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Organization</a:t>
            </a:r>
            <a:endParaRPr lang="en-US" sz="1000" dirty="0"/>
          </a:p>
        </p:txBody>
      </p:sp>
      <p:sp>
        <p:nvSpPr>
          <p:cNvPr id="12" name="Text 10"/>
          <p:cNvSpPr/>
          <p:nvPr/>
        </p:nvSpPr>
        <p:spPr>
          <a:xfrm>
            <a:off x="2651760" y="3611880"/>
            <a:ext cx="192024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Zaalima Development Pvt. Ltd</a:t>
            </a:r>
            <a:endParaRPr lang="en-US" sz="1200" dirty="0"/>
          </a:p>
        </p:txBody>
      </p:sp>
      <p:sp>
        <p:nvSpPr>
          <p:cNvPr id="13" name="Shape 11"/>
          <p:cNvSpPr/>
          <p:nvPr/>
        </p:nvSpPr>
        <p:spPr>
          <a:xfrm>
            <a:off x="4754880" y="3200400"/>
            <a:ext cx="1920240" cy="1280160"/>
          </a:xfrm>
          <a:prstGeom prst="roundRect">
            <a:avLst>
              <a:gd name="adj" fmla="val 5714"/>
            </a:avLst>
          </a:prstGeom>
          <a:solidFill>
            <a:srgbClr val="065A82">
              <a:alpha val="30000"/>
            </a:srgbClr>
          </a:solidFill>
          <a:ln w="12700">
            <a:solidFill>
              <a:srgbClr val="02C39A">
                <a:alpha val="50000"/>
              </a:srgbClr>
            </a:solidFill>
            <a:prstDash val="solid"/>
          </a:ln>
        </p:spPr>
      </p:sp>
      <p:sp>
        <p:nvSpPr>
          <p:cNvPr id="14" name="Text 12"/>
          <p:cNvSpPr/>
          <p:nvPr/>
        </p:nvSpPr>
        <p:spPr>
          <a:xfrm>
            <a:off x="4754880" y="3291840"/>
            <a:ext cx="192024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Department</a:t>
            </a:r>
            <a:endParaRPr lang="en-US" sz="1000" dirty="0"/>
          </a:p>
        </p:txBody>
      </p:sp>
      <p:sp>
        <p:nvSpPr>
          <p:cNvPr id="15" name="Text 13"/>
          <p:cNvSpPr/>
          <p:nvPr/>
        </p:nvSpPr>
        <p:spPr>
          <a:xfrm>
            <a:off x="4754880" y="3611880"/>
            <a:ext cx="192024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Analytics</a:t>
            </a:r>
            <a:endParaRPr lang="en-US" sz="1200" dirty="0"/>
          </a:p>
        </p:txBody>
      </p:sp>
      <p:sp>
        <p:nvSpPr>
          <p:cNvPr id="16" name="Shape 14"/>
          <p:cNvSpPr/>
          <p:nvPr/>
        </p:nvSpPr>
        <p:spPr>
          <a:xfrm>
            <a:off x="6858000" y="3200400"/>
            <a:ext cx="1920240" cy="1280160"/>
          </a:xfrm>
          <a:prstGeom prst="roundRect">
            <a:avLst>
              <a:gd name="adj" fmla="val 5714"/>
            </a:avLst>
          </a:prstGeom>
          <a:solidFill>
            <a:srgbClr val="065A82">
              <a:alpha val="30000"/>
            </a:srgbClr>
          </a:solidFill>
          <a:ln w="12700">
            <a:solidFill>
              <a:srgbClr val="02C39A">
                <a:alpha val="50000"/>
              </a:srgbClr>
            </a:solidFill>
            <a:prstDash val="solid"/>
          </a:ln>
        </p:spPr>
      </p:sp>
      <p:sp>
        <p:nvSpPr>
          <p:cNvPr id="17" name="Text 15"/>
          <p:cNvSpPr/>
          <p:nvPr/>
        </p:nvSpPr>
        <p:spPr>
          <a:xfrm>
            <a:off x="6858000" y="3291840"/>
            <a:ext cx="192024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Year</a:t>
            </a:r>
            <a:endParaRPr lang="en-US" sz="1000" dirty="0"/>
          </a:p>
        </p:txBody>
      </p:sp>
      <p:sp>
        <p:nvSpPr>
          <p:cNvPr id="18" name="Text 16"/>
          <p:cNvSpPr/>
          <p:nvPr/>
        </p:nvSpPr>
        <p:spPr>
          <a:xfrm>
            <a:off x="6858000" y="3611880"/>
            <a:ext cx="192024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Project Overview</a:t>
            </a:r>
            <a:endParaRPr lang="en-US" sz="2600" dirty="0"/>
          </a:p>
        </p:txBody>
      </p:sp>
      <p:sp>
        <p:nvSpPr>
          <p:cNvPr id="4" name="Text 2"/>
          <p:cNvSpPr/>
          <p:nvPr/>
        </p:nvSpPr>
        <p:spPr>
          <a:xfrm>
            <a:off x="457200" y="960120"/>
            <a:ext cx="8229600" cy="1005840"/>
          </a:xfrm>
          <a:prstGeom prst="rect">
            <a:avLst/>
          </a:prstGeom>
          <a:noFill/>
          <a:ln/>
        </p:spPr>
        <p:txBody>
          <a:bodyPr wrap="square"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The Logistics and Supply Chain industry generates massive amounts of operational data every day. This project utilizes Big Data Analytics techniques to process, analyze, and visualize logistics data using PySpark and Power BI.</a:t>
            </a:r>
            <a:endParaRPr lang="en-US" sz="1400" dirty="0"/>
          </a:p>
        </p:txBody>
      </p:sp>
      <p:sp>
        <p:nvSpPr>
          <p:cNvPr id="5" name="Text 3"/>
          <p:cNvSpPr/>
          <p:nvPr/>
        </p:nvSpPr>
        <p:spPr>
          <a:xfrm>
            <a:off x="457200" y="1874520"/>
            <a:ext cx="8229600" cy="822960"/>
          </a:xfrm>
          <a:prstGeom prst="rect">
            <a:avLst/>
          </a:prstGeom>
          <a:noFill/>
          <a:ln/>
        </p:spPr>
        <p:txBody>
          <a:bodyPr wrap="square"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The goal is to improve operational efficiency, monitor inventory, evaluate supplier performance, and support business decision-making through interactive dashboards.</a:t>
            </a:r>
            <a:endParaRPr lang="en-US" sz="1400" dirty="0"/>
          </a:p>
        </p:txBody>
      </p:sp>
      <p:sp>
        <p:nvSpPr>
          <p:cNvPr id="6" name="Shape 4"/>
          <p:cNvSpPr/>
          <p:nvPr/>
        </p:nvSpPr>
        <p:spPr>
          <a:xfrm>
            <a:off x="365760" y="2926080"/>
            <a:ext cx="1920240" cy="1645920"/>
          </a:xfrm>
          <a:prstGeom prst="roundRect">
            <a:avLst>
              <a:gd name="adj" fmla="val 5556"/>
            </a:avLst>
          </a:prstGeom>
          <a:solidFill>
            <a:srgbClr val="EFF7FF"/>
          </a:solidFill>
          <a:ln w="12700">
            <a:solidFill>
              <a:srgbClr val="C5DFF8"/>
            </a:solidFill>
            <a:prstDash val="solid"/>
          </a:ln>
          <a:effectLst>
            <a:outerShdw sx="100000" sy="100000" kx="0" ky="0" algn="bl" rotWithShape="0" blurRad="63500" dist="25400" dir="2700000">
              <a:srgbClr val="000000">
                <a:alpha val="10000"/>
              </a:srgbClr>
            </a:outerShdw>
          </a:effectLst>
        </p:spPr>
      </p:sp>
      <p:sp>
        <p:nvSpPr>
          <p:cNvPr id="7" name="Text 5"/>
          <p:cNvSpPr/>
          <p:nvPr/>
        </p:nvSpPr>
        <p:spPr>
          <a:xfrm>
            <a:off x="365760" y="3017520"/>
            <a:ext cx="1920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365760" y="3474720"/>
            <a:ext cx="1920240" cy="411480"/>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Big Data Analytics</a:t>
            </a:r>
            <a:endParaRPr lang="en-US" sz="1100" dirty="0"/>
          </a:p>
        </p:txBody>
      </p:sp>
      <p:sp>
        <p:nvSpPr>
          <p:cNvPr id="9" name="Text 7"/>
          <p:cNvSpPr/>
          <p:nvPr/>
        </p:nvSpPr>
        <p:spPr>
          <a:xfrm>
            <a:off x="365760" y="3886200"/>
            <a:ext cx="192024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PySpark-powered processing</a:t>
            </a:r>
            <a:endParaRPr lang="en-US" sz="1000" dirty="0"/>
          </a:p>
        </p:txBody>
      </p:sp>
      <p:sp>
        <p:nvSpPr>
          <p:cNvPr id="10" name="Shape 8"/>
          <p:cNvSpPr/>
          <p:nvPr/>
        </p:nvSpPr>
        <p:spPr>
          <a:xfrm>
            <a:off x="2468880" y="2926080"/>
            <a:ext cx="1920240" cy="1645920"/>
          </a:xfrm>
          <a:prstGeom prst="roundRect">
            <a:avLst>
              <a:gd name="adj" fmla="val 5556"/>
            </a:avLst>
          </a:prstGeom>
          <a:solidFill>
            <a:srgbClr val="EFF7FF"/>
          </a:solidFill>
          <a:ln w="12700">
            <a:solidFill>
              <a:srgbClr val="C5DFF8"/>
            </a:solidFill>
            <a:prstDash val="solid"/>
          </a:ln>
          <a:effectLst>
            <a:outerShdw sx="100000" sy="100000" kx="0" ky="0" algn="bl" rotWithShape="0" blurRad="63500" dist="25400" dir="2700000">
              <a:srgbClr val="000000">
                <a:alpha val="10000"/>
              </a:srgbClr>
            </a:outerShdw>
          </a:effectLst>
        </p:spPr>
      </p:sp>
      <p:sp>
        <p:nvSpPr>
          <p:cNvPr id="11" name="Text 9"/>
          <p:cNvSpPr/>
          <p:nvPr/>
        </p:nvSpPr>
        <p:spPr>
          <a:xfrm>
            <a:off x="2468880" y="3017520"/>
            <a:ext cx="1920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2468880" y="3474720"/>
            <a:ext cx="1920240" cy="411480"/>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Inventory Monitoring</a:t>
            </a:r>
            <a:endParaRPr lang="en-US" sz="1100" dirty="0"/>
          </a:p>
        </p:txBody>
      </p:sp>
      <p:sp>
        <p:nvSpPr>
          <p:cNvPr id="13" name="Text 11"/>
          <p:cNvSpPr/>
          <p:nvPr/>
        </p:nvSpPr>
        <p:spPr>
          <a:xfrm>
            <a:off x="2468880" y="3886200"/>
            <a:ext cx="192024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Real-time stock tracking</a:t>
            </a:r>
            <a:endParaRPr lang="en-US" sz="1000" dirty="0"/>
          </a:p>
        </p:txBody>
      </p:sp>
      <p:sp>
        <p:nvSpPr>
          <p:cNvPr id="14" name="Shape 12"/>
          <p:cNvSpPr/>
          <p:nvPr/>
        </p:nvSpPr>
        <p:spPr>
          <a:xfrm>
            <a:off x="4572000" y="2926080"/>
            <a:ext cx="1920240" cy="1645920"/>
          </a:xfrm>
          <a:prstGeom prst="roundRect">
            <a:avLst>
              <a:gd name="adj" fmla="val 5556"/>
            </a:avLst>
          </a:prstGeom>
          <a:solidFill>
            <a:srgbClr val="EFF7FF"/>
          </a:solidFill>
          <a:ln w="12700">
            <a:solidFill>
              <a:srgbClr val="C5DFF8"/>
            </a:solidFill>
            <a:prstDash val="solid"/>
          </a:ln>
          <a:effectLst>
            <a:outerShdw sx="100000" sy="100000" kx="0" ky="0" algn="bl" rotWithShape="0" blurRad="63500" dist="25400" dir="2700000">
              <a:srgbClr val="000000">
                <a:alpha val="10000"/>
              </a:srgbClr>
            </a:outerShdw>
          </a:effectLst>
        </p:spPr>
      </p:sp>
      <p:sp>
        <p:nvSpPr>
          <p:cNvPr id="15" name="Text 13"/>
          <p:cNvSpPr/>
          <p:nvPr/>
        </p:nvSpPr>
        <p:spPr>
          <a:xfrm>
            <a:off x="4572000" y="3017520"/>
            <a:ext cx="1920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4572000" y="3474720"/>
            <a:ext cx="1920240" cy="411480"/>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Logistics Efficiency</a:t>
            </a:r>
            <a:endParaRPr lang="en-US" sz="1100" dirty="0"/>
          </a:p>
        </p:txBody>
      </p:sp>
      <p:sp>
        <p:nvSpPr>
          <p:cNvPr id="17" name="Text 15"/>
          <p:cNvSpPr/>
          <p:nvPr/>
        </p:nvSpPr>
        <p:spPr>
          <a:xfrm>
            <a:off x="4572000" y="3886200"/>
            <a:ext cx="192024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Operational optimization</a:t>
            </a:r>
            <a:endParaRPr lang="en-US" sz="1000" dirty="0"/>
          </a:p>
        </p:txBody>
      </p:sp>
      <p:sp>
        <p:nvSpPr>
          <p:cNvPr id="18" name="Shape 16"/>
          <p:cNvSpPr/>
          <p:nvPr/>
        </p:nvSpPr>
        <p:spPr>
          <a:xfrm>
            <a:off x="6675120" y="2926080"/>
            <a:ext cx="1920240" cy="1645920"/>
          </a:xfrm>
          <a:prstGeom prst="roundRect">
            <a:avLst>
              <a:gd name="adj" fmla="val 5556"/>
            </a:avLst>
          </a:prstGeom>
          <a:solidFill>
            <a:srgbClr val="EFF7FF"/>
          </a:solidFill>
          <a:ln w="12700">
            <a:solidFill>
              <a:srgbClr val="C5DFF8"/>
            </a:solidFill>
            <a:prstDash val="solid"/>
          </a:ln>
          <a:effectLst>
            <a:outerShdw sx="100000" sy="100000" kx="0" ky="0" algn="bl" rotWithShape="0" blurRad="63500" dist="25400" dir="2700000">
              <a:srgbClr val="000000">
                <a:alpha val="10000"/>
              </a:srgbClr>
            </a:outerShdw>
          </a:effectLst>
        </p:spPr>
      </p:sp>
      <p:sp>
        <p:nvSpPr>
          <p:cNvPr id="19" name="Text 17"/>
          <p:cNvSpPr/>
          <p:nvPr/>
        </p:nvSpPr>
        <p:spPr>
          <a:xfrm>
            <a:off x="6675120" y="3017520"/>
            <a:ext cx="1920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6675120" y="3474720"/>
            <a:ext cx="1920240" cy="411480"/>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Business Insights</a:t>
            </a:r>
            <a:endParaRPr lang="en-US" sz="1100" dirty="0"/>
          </a:p>
        </p:txBody>
      </p:sp>
      <p:sp>
        <p:nvSpPr>
          <p:cNvPr id="21" name="Text 19"/>
          <p:cNvSpPr/>
          <p:nvPr/>
        </p:nvSpPr>
        <p:spPr>
          <a:xfrm>
            <a:off x="6675120" y="3886200"/>
            <a:ext cx="1920240" cy="45720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Data-driven decisions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Problem Statement &amp; Objectives</a:t>
            </a:r>
            <a:endParaRPr lang="en-US" sz="2600" dirty="0"/>
          </a:p>
        </p:txBody>
      </p:sp>
      <p:sp>
        <p:nvSpPr>
          <p:cNvPr id="4" name="Shape 2"/>
          <p:cNvSpPr/>
          <p:nvPr/>
        </p:nvSpPr>
        <p:spPr>
          <a:xfrm>
            <a:off x="274320" y="914400"/>
            <a:ext cx="4023360" cy="3840480"/>
          </a:xfrm>
          <a:prstGeom prst="roundRect">
            <a:avLst>
              <a:gd name="adj" fmla="val 2381"/>
            </a:avLst>
          </a:prstGeom>
          <a:solidFill>
            <a:srgbClr val="FFF5F5"/>
          </a:solidFill>
          <a:ln w="12700">
            <a:solidFill>
              <a:srgbClr val="FFC5C5"/>
            </a:solidFill>
            <a:prstDash val="solid"/>
          </a:ln>
        </p:spPr>
      </p:sp>
      <p:sp>
        <p:nvSpPr>
          <p:cNvPr id="5" name="Text 3"/>
          <p:cNvSpPr/>
          <p:nvPr/>
        </p:nvSpPr>
        <p:spPr>
          <a:xfrm>
            <a:off x="365760" y="1005840"/>
            <a:ext cx="3840480" cy="411480"/>
          </a:xfrm>
          <a:prstGeom prst="rect">
            <a:avLst/>
          </a:prstGeom>
          <a:noFill/>
          <a:ln/>
        </p:spPr>
        <p:txBody>
          <a:bodyPr wrap="square" rtlCol="0" anchor="ctr"/>
          <a:lstStyle/>
          <a:p>
            <a:pPr indent="0" marL="0">
              <a:buNone/>
            </a:pPr>
            <a:r>
              <a:rPr lang="en-US" sz="1500" b="1" dirty="0">
                <a:solidFill>
                  <a:srgbClr val="C0392B"/>
                </a:solidFill>
                <a:latin typeface="Cambria" pitchFamily="34" charset="0"/>
                <a:ea typeface="Cambria" pitchFamily="34" charset="-122"/>
                <a:cs typeface="Cambria" pitchFamily="34" charset="-120"/>
              </a:rPr>
              <a:t>⚠  Challenges</a:t>
            </a:r>
            <a:endParaRPr lang="en-US" sz="1500" dirty="0"/>
          </a:p>
        </p:txBody>
      </p:sp>
      <p:sp>
        <p:nvSpPr>
          <p:cNvPr id="6" name="Text 4"/>
          <p:cNvSpPr/>
          <p:nvPr/>
        </p:nvSpPr>
        <p:spPr>
          <a:xfrm>
            <a:off x="457200" y="1508760"/>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Delivery delays</a:t>
            </a:r>
            <a:endParaRPr lang="en-US" sz="1300" dirty="0"/>
          </a:p>
        </p:txBody>
      </p:sp>
      <p:sp>
        <p:nvSpPr>
          <p:cNvPr id="7" name="Text 5"/>
          <p:cNvSpPr/>
          <p:nvPr/>
        </p:nvSpPr>
        <p:spPr>
          <a:xfrm>
            <a:off x="457200" y="2039112"/>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High transportation costs</a:t>
            </a:r>
            <a:endParaRPr lang="en-US" sz="1300" dirty="0"/>
          </a:p>
        </p:txBody>
      </p:sp>
      <p:sp>
        <p:nvSpPr>
          <p:cNvPr id="8" name="Text 6"/>
          <p:cNvSpPr/>
          <p:nvPr/>
        </p:nvSpPr>
        <p:spPr>
          <a:xfrm>
            <a:off x="457200" y="2569464"/>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Inventory management issues</a:t>
            </a:r>
            <a:endParaRPr lang="en-US" sz="1300" dirty="0"/>
          </a:p>
        </p:txBody>
      </p:sp>
      <p:sp>
        <p:nvSpPr>
          <p:cNvPr id="9" name="Text 7"/>
          <p:cNvSpPr/>
          <p:nvPr/>
        </p:nvSpPr>
        <p:spPr>
          <a:xfrm>
            <a:off x="457200" y="3099816"/>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Supplier performance monitoring</a:t>
            </a:r>
            <a:endParaRPr lang="en-US" sz="1300" dirty="0"/>
          </a:p>
        </p:txBody>
      </p:sp>
      <p:sp>
        <p:nvSpPr>
          <p:cNvPr id="10" name="Text 8"/>
          <p:cNvSpPr/>
          <p:nvPr/>
        </p:nvSpPr>
        <p:spPr>
          <a:xfrm>
            <a:off x="457200" y="3630168"/>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Lack of data-driven decisions</a:t>
            </a:r>
            <a:endParaRPr lang="en-US" sz="1300" dirty="0"/>
          </a:p>
        </p:txBody>
      </p:sp>
      <p:sp>
        <p:nvSpPr>
          <p:cNvPr id="11" name="Shape 9"/>
          <p:cNvSpPr/>
          <p:nvPr/>
        </p:nvSpPr>
        <p:spPr>
          <a:xfrm>
            <a:off x="4846320" y="914400"/>
            <a:ext cx="4023360" cy="3840480"/>
          </a:xfrm>
          <a:prstGeom prst="roundRect">
            <a:avLst>
              <a:gd name="adj" fmla="val 2381"/>
            </a:avLst>
          </a:prstGeom>
          <a:solidFill>
            <a:srgbClr val="F0FBF5"/>
          </a:solidFill>
          <a:ln w="12700">
            <a:solidFill>
              <a:srgbClr val="A7E3C4"/>
            </a:solidFill>
            <a:prstDash val="solid"/>
          </a:ln>
        </p:spPr>
      </p:sp>
      <p:sp>
        <p:nvSpPr>
          <p:cNvPr id="12" name="Text 10"/>
          <p:cNvSpPr/>
          <p:nvPr/>
        </p:nvSpPr>
        <p:spPr>
          <a:xfrm>
            <a:off x="4937760" y="1005840"/>
            <a:ext cx="3840480" cy="411480"/>
          </a:xfrm>
          <a:prstGeom prst="rect">
            <a:avLst/>
          </a:prstGeom>
          <a:noFill/>
          <a:ln/>
        </p:spPr>
        <p:txBody>
          <a:bodyPr wrap="square" rtlCol="0" anchor="ctr"/>
          <a:lstStyle/>
          <a:p>
            <a:pPr indent="0" marL="0">
              <a:buNone/>
            </a:pPr>
            <a:r>
              <a:rPr lang="en-US" sz="1500" b="1" dirty="0">
                <a:solidFill>
                  <a:srgbClr val="1A7A45"/>
                </a:solidFill>
                <a:latin typeface="Cambria" pitchFamily="34" charset="0"/>
                <a:ea typeface="Cambria" pitchFamily="34" charset="-122"/>
                <a:cs typeface="Cambria" pitchFamily="34" charset="-120"/>
              </a:rPr>
              <a:t>✅  Objectives</a:t>
            </a:r>
            <a:endParaRPr lang="en-US" sz="1500" dirty="0"/>
          </a:p>
        </p:txBody>
      </p:sp>
      <p:sp>
        <p:nvSpPr>
          <p:cNvPr id="13" name="Text 11"/>
          <p:cNvSpPr/>
          <p:nvPr/>
        </p:nvSpPr>
        <p:spPr>
          <a:xfrm>
            <a:off x="5029200" y="1508760"/>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Analyze logistics performance</a:t>
            </a:r>
            <a:endParaRPr lang="en-US" sz="1300" dirty="0"/>
          </a:p>
        </p:txBody>
      </p:sp>
      <p:sp>
        <p:nvSpPr>
          <p:cNvPr id="14" name="Text 12"/>
          <p:cNvSpPr/>
          <p:nvPr/>
        </p:nvSpPr>
        <p:spPr>
          <a:xfrm>
            <a:off x="5029200" y="2039112"/>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Monitor inventory levels</a:t>
            </a:r>
            <a:endParaRPr lang="en-US" sz="1300" dirty="0"/>
          </a:p>
        </p:txBody>
      </p:sp>
      <p:sp>
        <p:nvSpPr>
          <p:cNvPr id="15" name="Text 13"/>
          <p:cNvSpPr/>
          <p:nvPr/>
        </p:nvSpPr>
        <p:spPr>
          <a:xfrm>
            <a:off x="5029200" y="2569464"/>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Evaluate supplier efficiency</a:t>
            </a:r>
            <a:endParaRPr lang="en-US" sz="1300" dirty="0"/>
          </a:p>
        </p:txBody>
      </p:sp>
      <p:sp>
        <p:nvSpPr>
          <p:cNvPr id="16" name="Text 14"/>
          <p:cNvSpPr/>
          <p:nvPr/>
        </p:nvSpPr>
        <p:spPr>
          <a:xfrm>
            <a:off x="5029200" y="3099816"/>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Forecast future demand</a:t>
            </a:r>
            <a:endParaRPr lang="en-US" sz="1300" dirty="0"/>
          </a:p>
        </p:txBody>
      </p:sp>
      <p:sp>
        <p:nvSpPr>
          <p:cNvPr id="17" name="Text 15"/>
          <p:cNvSpPr/>
          <p:nvPr/>
        </p:nvSpPr>
        <p:spPr>
          <a:xfrm>
            <a:off x="5029200" y="3630168"/>
            <a:ext cx="3657600" cy="4572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Develop interactive dashboards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Technologies Used</a:t>
            </a:r>
            <a:endParaRPr lang="en-US" sz="2600" dirty="0"/>
          </a:p>
        </p:txBody>
      </p:sp>
      <p:sp>
        <p:nvSpPr>
          <p:cNvPr id="4" name="Shape 2"/>
          <p:cNvSpPr/>
          <p:nvPr/>
        </p:nvSpPr>
        <p:spPr>
          <a:xfrm>
            <a:off x="365760" y="1005840"/>
            <a:ext cx="2606040" cy="1645920"/>
          </a:xfrm>
          <a:prstGeom prst="roundRect">
            <a:avLst>
              <a:gd name="adj" fmla="val 6667"/>
            </a:avLst>
          </a:prstGeom>
          <a:solidFill>
            <a:srgbClr val="EEF4FF"/>
          </a:solidFill>
          <a:ln w="12700">
            <a:solidFill>
              <a:srgbClr val="B5CFFF"/>
            </a:solidFill>
            <a:prstDash val="solid"/>
          </a:ln>
          <a:effectLst>
            <a:outerShdw sx="100000" sy="100000" kx="0" ky="0" algn="bl" rotWithShape="0" blurRad="63500" dist="25400" dir="2700000">
              <a:srgbClr val="000000">
                <a:alpha val="10000"/>
              </a:srgbClr>
            </a:outerShdw>
          </a:effectLst>
        </p:spPr>
      </p:sp>
      <p:sp>
        <p:nvSpPr>
          <p:cNvPr id="5" name="Text 3"/>
          <p:cNvSpPr/>
          <p:nvPr/>
        </p:nvSpPr>
        <p:spPr>
          <a:xfrm>
            <a:off x="365760" y="1143000"/>
            <a:ext cx="26060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365760" y="1645920"/>
            <a:ext cx="2606040" cy="411480"/>
          </a:xfrm>
          <a:prstGeom prst="rect">
            <a:avLst/>
          </a:prstGeom>
          <a:noFill/>
          <a:ln/>
        </p:spPr>
        <p:txBody>
          <a:bodyPr wrap="square"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Python</a:t>
            </a:r>
            <a:endParaRPr lang="en-US" sz="1500" dirty="0"/>
          </a:p>
        </p:txBody>
      </p:sp>
      <p:sp>
        <p:nvSpPr>
          <p:cNvPr id="7" name="Text 5"/>
          <p:cNvSpPr/>
          <p:nvPr/>
        </p:nvSpPr>
        <p:spPr>
          <a:xfrm>
            <a:off x="365760" y="2057400"/>
            <a:ext cx="2606040" cy="4114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Data Analysis</a:t>
            </a:r>
            <a:endParaRPr lang="en-US" sz="1200" dirty="0"/>
          </a:p>
        </p:txBody>
      </p:sp>
      <p:sp>
        <p:nvSpPr>
          <p:cNvPr id="8" name="Shape 6"/>
          <p:cNvSpPr/>
          <p:nvPr/>
        </p:nvSpPr>
        <p:spPr>
          <a:xfrm>
            <a:off x="3200400" y="1005840"/>
            <a:ext cx="2606040" cy="1645920"/>
          </a:xfrm>
          <a:prstGeom prst="roundRect">
            <a:avLst>
              <a:gd name="adj" fmla="val 6667"/>
            </a:avLst>
          </a:prstGeom>
          <a:solidFill>
            <a:srgbClr val="FFF8EE"/>
          </a:solidFill>
          <a:ln w="12700">
            <a:solidFill>
              <a:srgbClr val="FFD9A0"/>
            </a:solidFill>
            <a:prstDash val="solid"/>
          </a:ln>
          <a:effectLst>
            <a:outerShdw sx="100000" sy="100000" kx="0" ky="0" algn="bl" rotWithShape="0" blurRad="63500" dist="25400" dir="2700000">
              <a:srgbClr val="000000">
                <a:alpha val="10000"/>
              </a:srgbClr>
            </a:outerShdw>
          </a:effectLst>
        </p:spPr>
      </p:sp>
      <p:sp>
        <p:nvSpPr>
          <p:cNvPr id="9" name="Text 7"/>
          <p:cNvSpPr/>
          <p:nvPr/>
        </p:nvSpPr>
        <p:spPr>
          <a:xfrm>
            <a:off x="3200400" y="1143000"/>
            <a:ext cx="26060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3200400" y="1645920"/>
            <a:ext cx="2606040" cy="411480"/>
          </a:xfrm>
          <a:prstGeom prst="rect">
            <a:avLst/>
          </a:prstGeom>
          <a:noFill/>
          <a:ln/>
        </p:spPr>
        <p:txBody>
          <a:bodyPr wrap="square"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PySpark</a:t>
            </a:r>
            <a:endParaRPr lang="en-US" sz="1500" dirty="0"/>
          </a:p>
        </p:txBody>
      </p:sp>
      <p:sp>
        <p:nvSpPr>
          <p:cNvPr id="11" name="Text 9"/>
          <p:cNvSpPr/>
          <p:nvPr/>
        </p:nvSpPr>
        <p:spPr>
          <a:xfrm>
            <a:off x="3200400" y="2057400"/>
            <a:ext cx="2606040" cy="4114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Big Data Processing</a:t>
            </a:r>
            <a:endParaRPr lang="en-US" sz="1200" dirty="0"/>
          </a:p>
        </p:txBody>
      </p:sp>
      <p:sp>
        <p:nvSpPr>
          <p:cNvPr id="12" name="Shape 10"/>
          <p:cNvSpPr/>
          <p:nvPr/>
        </p:nvSpPr>
        <p:spPr>
          <a:xfrm>
            <a:off x="6035040" y="1005840"/>
            <a:ext cx="2606040" cy="1645920"/>
          </a:xfrm>
          <a:prstGeom prst="roundRect">
            <a:avLst>
              <a:gd name="adj" fmla="val 6667"/>
            </a:avLst>
          </a:prstGeom>
          <a:solidFill>
            <a:srgbClr val="F0FBF5"/>
          </a:solidFill>
          <a:ln w="12700">
            <a:solidFill>
              <a:srgbClr val="A7E3C4"/>
            </a:solidFill>
            <a:prstDash val="solid"/>
          </a:ln>
          <a:effectLst>
            <a:outerShdw sx="100000" sy="100000" kx="0" ky="0" algn="bl" rotWithShape="0" blurRad="63500" dist="25400" dir="2700000">
              <a:srgbClr val="000000">
                <a:alpha val="10000"/>
              </a:srgbClr>
            </a:outerShdw>
          </a:effectLst>
        </p:spPr>
      </p:sp>
      <p:sp>
        <p:nvSpPr>
          <p:cNvPr id="13" name="Text 11"/>
          <p:cNvSpPr/>
          <p:nvPr/>
        </p:nvSpPr>
        <p:spPr>
          <a:xfrm>
            <a:off x="6035040" y="1143000"/>
            <a:ext cx="26060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6035040" y="1645920"/>
            <a:ext cx="2606040" cy="411480"/>
          </a:xfrm>
          <a:prstGeom prst="rect">
            <a:avLst/>
          </a:prstGeom>
          <a:noFill/>
          <a:ln/>
        </p:spPr>
        <p:txBody>
          <a:bodyPr wrap="square"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SQL</a:t>
            </a:r>
            <a:endParaRPr lang="en-US" sz="1500" dirty="0"/>
          </a:p>
        </p:txBody>
      </p:sp>
      <p:sp>
        <p:nvSpPr>
          <p:cNvPr id="15" name="Text 13"/>
          <p:cNvSpPr/>
          <p:nvPr/>
        </p:nvSpPr>
        <p:spPr>
          <a:xfrm>
            <a:off x="6035040" y="2057400"/>
            <a:ext cx="2606040" cy="4114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Database Queries</a:t>
            </a:r>
            <a:endParaRPr lang="en-US" sz="1200" dirty="0"/>
          </a:p>
        </p:txBody>
      </p:sp>
      <p:sp>
        <p:nvSpPr>
          <p:cNvPr id="16" name="Shape 14"/>
          <p:cNvSpPr/>
          <p:nvPr/>
        </p:nvSpPr>
        <p:spPr>
          <a:xfrm>
            <a:off x="365760" y="2926080"/>
            <a:ext cx="2606040" cy="1645920"/>
          </a:xfrm>
          <a:prstGeom prst="roundRect">
            <a:avLst>
              <a:gd name="adj" fmla="val 6667"/>
            </a:avLst>
          </a:prstGeom>
          <a:solidFill>
            <a:srgbClr val="FFF0F6"/>
          </a:solidFill>
          <a:ln w="12700">
            <a:solidFill>
              <a:srgbClr val="FFB3D4"/>
            </a:solidFill>
            <a:prstDash val="solid"/>
          </a:ln>
          <a:effectLst>
            <a:outerShdw sx="100000" sy="100000" kx="0" ky="0" algn="bl" rotWithShape="0" blurRad="63500" dist="25400" dir="2700000">
              <a:srgbClr val="000000">
                <a:alpha val="10000"/>
              </a:srgbClr>
            </a:outerShdw>
          </a:effectLst>
        </p:spPr>
      </p:sp>
      <p:sp>
        <p:nvSpPr>
          <p:cNvPr id="17" name="Text 15"/>
          <p:cNvSpPr/>
          <p:nvPr/>
        </p:nvSpPr>
        <p:spPr>
          <a:xfrm>
            <a:off x="365760" y="3063240"/>
            <a:ext cx="26060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365760" y="3566160"/>
            <a:ext cx="2606040" cy="411480"/>
          </a:xfrm>
          <a:prstGeom prst="rect">
            <a:avLst/>
          </a:prstGeom>
          <a:noFill/>
          <a:ln/>
        </p:spPr>
        <p:txBody>
          <a:bodyPr wrap="square"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Pandas</a:t>
            </a:r>
            <a:endParaRPr lang="en-US" sz="1500" dirty="0"/>
          </a:p>
        </p:txBody>
      </p:sp>
      <p:sp>
        <p:nvSpPr>
          <p:cNvPr id="19" name="Text 17"/>
          <p:cNvSpPr/>
          <p:nvPr/>
        </p:nvSpPr>
        <p:spPr>
          <a:xfrm>
            <a:off x="365760" y="3977640"/>
            <a:ext cx="2606040" cy="4114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Data Manipulation</a:t>
            </a:r>
            <a:endParaRPr lang="en-US" sz="1200" dirty="0"/>
          </a:p>
        </p:txBody>
      </p:sp>
      <p:sp>
        <p:nvSpPr>
          <p:cNvPr id="20" name="Shape 18"/>
          <p:cNvSpPr/>
          <p:nvPr/>
        </p:nvSpPr>
        <p:spPr>
          <a:xfrm>
            <a:off x="3200400" y="2926080"/>
            <a:ext cx="2606040" cy="1645920"/>
          </a:xfrm>
          <a:prstGeom prst="roundRect">
            <a:avLst>
              <a:gd name="adj" fmla="val 6667"/>
            </a:avLst>
          </a:prstGeom>
          <a:solidFill>
            <a:srgbClr val="F5F0FF"/>
          </a:solidFill>
          <a:ln w="12700">
            <a:solidFill>
              <a:srgbClr val="C9B3FF"/>
            </a:solidFill>
            <a:prstDash val="solid"/>
          </a:ln>
          <a:effectLst>
            <a:outerShdw sx="100000" sy="100000" kx="0" ky="0" algn="bl" rotWithShape="0" blurRad="63500" dist="25400" dir="2700000">
              <a:srgbClr val="000000">
                <a:alpha val="10000"/>
              </a:srgbClr>
            </a:outerShdw>
          </a:effectLst>
        </p:spPr>
      </p:sp>
      <p:sp>
        <p:nvSpPr>
          <p:cNvPr id="21" name="Text 19"/>
          <p:cNvSpPr/>
          <p:nvPr/>
        </p:nvSpPr>
        <p:spPr>
          <a:xfrm>
            <a:off x="3200400" y="3063240"/>
            <a:ext cx="26060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3200400" y="3566160"/>
            <a:ext cx="2606040" cy="411480"/>
          </a:xfrm>
          <a:prstGeom prst="rect">
            <a:avLst/>
          </a:prstGeom>
          <a:noFill/>
          <a:ln/>
        </p:spPr>
        <p:txBody>
          <a:bodyPr wrap="square"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Power BI</a:t>
            </a:r>
            <a:endParaRPr lang="en-US" sz="1500" dirty="0"/>
          </a:p>
        </p:txBody>
      </p:sp>
      <p:sp>
        <p:nvSpPr>
          <p:cNvPr id="23" name="Text 21"/>
          <p:cNvSpPr/>
          <p:nvPr/>
        </p:nvSpPr>
        <p:spPr>
          <a:xfrm>
            <a:off x="3200400" y="3977640"/>
            <a:ext cx="2606040" cy="4114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Dashboard Development</a:t>
            </a:r>
            <a:endParaRPr lang="en-US" sz="1200" dirty="0"/>
          </a:p>
        </p:txBody>
      </p:sp>
      <p:sp>
        <p:nvSpPr>
          <p:cNvPr id="24" name="Shape 22"/>
          <p:cNvSpPr/>
          <p:nvPr/>
        </p:nvSpPr>
        <p:spPr>
          <a:xfrm>
            <a:off x="6035040" y="2926080"/>
            <a:ext cx="2606040" cy="1645920"/>
          </a:xfrm>
          <a:prstGeom prst="roundRect">
            <a:avLst>
              <a:gd name="adj" fmla="val 6667"/>
            </a:avLst>
          </a:prstGeom>
          <a:solidFill>
            <a:srgbClr val="FFFBEF"/>
          </a:solidFill>
          <a:ln w="12700">
            <a:solidFill>
              <a:srgbClr val="FFE89A"/>
            </a:solidFill>
            <a:prstDash val="solid"/>
          </a:ln>
          <a:effectLst>
            <a:outerShdw sx="100000" sy="100000" kx="0" ky="0" algn="bl" rotWithShape="0" blurRad="63500" dist="25400" dir="2700000">
              <a:srgbClr val="000000">
                <a:alpha val="10000"/>
              </a:srgbClr>
            </a:outerShdw>
          </a:effectLst>
        </p:spPr>
      </p:sp>
      <p:sp>
        <p:nvSpPr>
          <p:cNvPr id="25" name="Text 23"/>
          <p:cNvSpPr/>
          <p:nvPr/>
        </p:nvSpPr>
        <p:spPr>
          <a:xfrm>
            <a:off x="6035040" y="3063240"/>
            <a:ext cx="26060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6035040" y="3566160"/>
            <a:ext cx="2606040" cy="411480"/>
          </a:xfrm>
          <a:prstGeom prst="rect">
            <a:avLst/>
          </a:prstGeom>
          <a:noFill/>
          <a:ln/>
        </p:spPr>
        <p:txBody>
          <a:bodyPr wrap="square"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Google Colab</a:t>
            </a:r>
            <a:endParaRPr lang="en-US" sz="1500" dirty="0"/>
          </a:p>
        </p:txBody>
      </p:sp>
      <p:sp>
        <p:nvSpPr>
          <p:cNvPr id="27" name="Text 25"/>
          <p:cNvSpPr/>
          <p:nvPr/>
        </p:nvSpPr>
        <p:spPr>
          <a:xfrm>
            <a:off x="6035040" y="3977640"/>
            <a:ext cx="2606040" cy="41148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Development Platform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Project Architecture</a:t>
            </a:r>
            <a:endParaRPr lang="en-US" sz="2800" dirty="0"/>
          </a:p>
        </p:txBody>
      </p:sp>
      <p:sp>
        <p:nvSpPr>
          <p:cNvPr id="3" name="Shape 1"/>
          <p:cNvSpPr/>
          <p:nvPr/>
        </p:nvSpPr>
        <p:spPr>
          <a:xfrm>
            <a:off x="457200" y="1097280"/>
            <a:ext cx="1051560" cy="2926080"/>
          </a:xfrm>
          <a:prstGeom prst="roundRect">
            <a:avLst>
              <a:gd name="adj" fmla="val 6957"/>
            </a:avLst>
          </a:prstGeom>
          <a:solidFill>
            <a:srgbClr val="1C3A5E"/>
          </a:solidFill>
          <a:ln w="12700">
            <a:solidFill>
              <a:srgbClr val="1C3A5E"/>
            </a:solidFill>
            <a:prstDash val="solid"/>
          </a:ln>
        </p:spPr>
      </p:sp>
      <p:sp>
        <p:nvSpPr>
          <p:cNvPr id="4" name="Text 2"/>
          <p:cNvSpPr/>
          <p:nvPr/>
        </p:nvSpPr>
        <p:spPr>
          <a:xfrm>
            <a:off x="457200"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Logistics Data</a:t>
            </a:r>
            <a:endParaRPr lang="en-US" sz="1100" dirty="0"/>
          </a:p>
        </p:txBody>
      </p:sp>
      <p:sp>
        <p:nvSpPr>
          <p:cNvPr id="5" name="Shape 3"/>
          <p:cNvSpPr/>
          <p:nvPr/>
        </p:nvSpPr>
        <p:spPr>
          <a:xfrm>
            <a:off x="1508760" y="2560320"/>
            <a:ext cx="155448" cy="0"/>
          </a:xfrm>
          <a:prstGeom prst="line">
            <a:avLst/>
          </a:prstGeom>
          <a:noFill/>
          <a:ln w="25400">
            <a:solidFill>
              <a:srgbClr val="02C39A"/>
            </a:solidFill>
            <a:prstDash val="solid"/>
          </a:ln>
        </p:spPr>
      </p:sp>
      <p:sp>
        <p:nvSpPr>
          <p:cNvPr id="6" name="Shape 4"/>
          <p:cNvSpPr/>
          <p:nvPr/>
        </p:nvSpPr>
        <p:spPr>
          <a:xfrm>
            <a:off x="1664208" y="1097280"/>
            <a:ext cx="1051560" cy="2926080"/>
          </a:xfrm>
          <a:prstGeom prst="roundRect">
            <a:avLst>
              <a:gd name="adj" fmla="val 6957"/>
            </a:avLst>
          </a:prstGeom>
          <a:solidFill>
            <a:srgbClr val="1A5276"/>
          </a:solidFill>
          <a:ln w="12700">
            <a:solidFill>
              <a:srgbClr val="1A5276"/>
            </a:solidFill>
            <a:prstDash val="solid"/>
          </a:ln>
        </p:spPr>
      </p:sp>
      <p:sp>
        <p:nvSpPr>
          <p:cNvPr id="7" name="Text 5"/>
          <p:cNvSpPr/>
          <p:nvPr/>
        </p:nvSpPr>
        <p:spPr>
          <a:xfrm>
            <a:off x="1664208"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Collection</a:t>
            </a:r>
            <a:endParaRPr lang="en-US" sz="1100" dirty="0"/>
          </a:p>
        </p:txBody>
      </p:sp>
      <p:sp>
        <p:nvSpPr>
          <p:cNvPr id="8" name="Shape 6"/>
          <p:cNvSpPr/>
          <p:nvPr/>
        </p:nvSpPr>
        <p:spPr>
          <a:xfrm>
            <a:off x="2715768" y="2560320"/>
            <a:ext cx="155448" cy="0"/>
          </a:xfrm>
          <a:prstGeom prst="line">
            <a:avLst/>
          </a:prstGeom>
          <a:noFill/>
          <a:ln w="25400">
            <a:solidFill>
              <a:srgbClr val="02C39A"/>
            </a:solidFill>
            <a:prstDash val="solid"/>
          </a:ln>
        </p:spPr>
      </p:sp>
      <p:sp>
        <p:nvSpPr>
          <p:cNvPr id="9" name="Shape 7"/>
          <p:cNvSpPr/>
          <p:nvPr/>
        </p:nvSpPr>
        <p:spPr>
          <a:xfrm>
            <a:off x="2871216" y="1097280"/>
            <a:ext cx="1051560" cy="2926080"/>
          </a:xfrm>
          <a:prstGeom prst="roundRect">
            <a:avLst>
              <a:gd name="adj" fmla="val 6957"/>
            </a:avLst>
          </a:prstGeom>
          <a:solidFill>
            <a:srgbClr val="1A6B82"/>
          </a:solidFill>
          <a:ln w="12700">
            <a:solidFill>
              <a:srgbClr val="1A6B82"/>
            </a:solidFill>
            <a:prstDash val="solid"/>
          </a:ln>
        </p:spPr>
      </p:sp>
      <p:sp>
        <p:nvSpPr>
          <p:cNvPr id="10" name="Text 8"/>
          <p:cNvSpPr/>
          <p:nvPr/>
        </p:nvSpPr>
        <p:spPr>
          <a:xfrm>
            <a:off x="2871216"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Cleaning</a:t>
            </a:r>
            <a:endParaRPr lang="en-US" sz="1100" dirty="0"/>
          </a:p>
        </p:txBody>
      </p:sp>
      <p:sp>
        <p:nvSpPr>
          <p:cNvPr id="11" name="Shape 9"/>
          <p:cNvSpPr/>
          <p:nvPr/>
        </p:nvSpPr>
        <p:spPr>
          <a:xfrm>
            <a:off x="3922776" y="2560320"/>
            <a:ext cx="155448" cy="0"/>
          </a:xfrm>
          <a:prstGeom prst="line">
            <a:avLst/>
          </a:prstGeom>
          <a:noFill/>
          <a:ln w="25400">
            <a:solidFill>
              <a:srgbClr val="02C39A"/>
            </a:solidFill>
            <a:prstDash val="solid"/>
          </a:ln>
        </p:spPr>
      </p:sp>
      <p:sp>
        <p:nvSpPr>
          <p:cNvPr id="12" name="Shape 10"/>
          <p:cNvSpPr/>
          <p:nvPr/>
        </p:nvSpPr>
        <p:spPr>
          <a:xfrm>
            <a:off x="4078224" y="1097280"/>
            <a:ext cx="1051560" cy="2926080"/>
          </a:xfrm>
          <a:prstGeom prst="roundRect">
            <a:avLst>
              <a:gd name="adj" fmla="val 6957"/>
            </a:avLst>
          </a:prstGeom>
          <a:solidFill>
            <a:srgbClr val="028090"/>
          </a:solidFill>
          <a:ln w="12700">
            <a:solidFill>
              <a:srgbClr val="028090"/>
            </a:solidFill>
            <a:prstDash val="solid"/>
          </a:ln>
        </p:spPr>
      </p:sp>
      <p:sp>
        <p:nvSpPr>
          <p:cNvPr id="13" name="Text 11"/>
          <p:cNvSpPr/>
          <p:nvPr/>
        </p:nvSpPr>
        <p:spPr>
          <a:xfrm>
            <a:off x="4078224"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PySpark Processing</a:t>
            </a:r>
            <a:endParaRPr lang="en-US" sz="1100" dirty="0"/>
          </a:p>
        </p:txBody>
      </p:sp>
      <p:sp>
        <p:nvSpPr>
          <p:cNvPr id="14" name="Shape 12"/>
          <p:cNvSpPr/>
          <p:nvPr/>
        </p:nvSpPr>
        <p:spPr>
          <a:xfrm>
            <a:off x="5129784" y="2560320"/>
            <a:ext cx="155448" cy="0"/>
          </a:xfrm>
          <a:prstGeom prst="line">
            <a:avLst/>
          </a:prstGeom>
          <a:noFill/>
          <a:ln w="25400">
            <a:solidFill>
              <a:srgbClr val="02C39A"/>
            </a:solidFill>
            <a:prstDash val="solid"/>
          </a:ln>
        </p:spPr>
      </p:sp>
      <p:sp>
        <p:nvSpPr>
          <p:cNvPr id="15" name="Shape 13"/>
          <p:cNvSpPr/>
          <p:nvPr/>
        </p:nvSpPr>
        <p:spPr>
          <a:xfrm>
            <a:off x="5285232" y="1097280"/>
            <a:ext cx="1051560" cy="2926080"/>
          </a:xfrm>
          <a:prstGeom prst="roundRect">
            <a:avLst>
              <a:gd name="adj" fmla="val 6957"/>
            </a:avLst>
          </a:prstGeom>
          <a:solidFill>
            <a:srgbClr val="02A89A"/>
          </a:solidFill>
          <a:ln w="12700">
            <a:solidFill>
              <a:srgbClr val="02A89A"/>
            </a:solidFill>
            <a:prstDash val="solid"/>
          </a:ln>
        </p:spPr>
      </p:sp>
      <p:sp>
        <p:nvSpPr>
          <p:cNvPr id="16" name="Text 14"/>
          <p:cNvSpPr/>
          <p:nvPr/>
        </p:nvSpPr>
        <p:spPr>
          <a:xfrm>
            <a:off x="5285232"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KPI Calculation</a:t>
            </a:r>
            <a:endParaRPr lang="en-US" sz="1100" dirty="0"/>
          </a:p>
        </p:txBody>
      </p:sp>
      <p:sp>
        <p:nvSpPr>
          <p:cNvPr id="17" name="Shape 15"/>
          <p:cNvSpPr/>
          <p:nvPr/>
        </p:nvSpPr>
        <p:spPr>
          <a:xfrm>
            <a:off x="6336792" y="2560320"/>
            <a:ext cx="155448" cy="0"/>
          </a:xfrm>
          <a:prstGeom prst="line">
            <a:avLst/>
          </a:prstGeom>
          <a:noFill/>
          <a:ln w="25400">
            <a:solidFill>
              <a:srgbClr val="02C39A"/>
            </a:solidFill>
            <a:prstDash val="solid"/>
          </a:ln>
        </p:spPr>
      </p:sp>
      <p:sp>
        <p:nvSpPr>
          <p:cNvPr id="18" name="Shape 16"/>
          <p:cNvSpPr/>
          <p:nvPr/>
        </p:nvSpPr>
        <p:spPr>
          <a:xfrm>
            <a:off x="6492240" y="1097280"/>
            <a:ext cx="1051560" cy="2926080"/>
          </a:xfrm>
          <a:prstGeom prst="roundRect">
            <a:avLst>
              <a:gd name="adj" fmla="val 6957"/>
            </a:avLst>
          </a:prstGeom>
          <a:solidFill>
            <a:srgbClr val="02C39A"/>
          </a:solidFill>
          <a:ln w="12700">
            <a:solidFill>
              <a:srgbClr val="02C39A"/>
            </a:solidFill>
            <a:prstDash val="solid"/>
          </a:ln>
        </p:spPr>
      </p:sp>
      <p:sp>
        <p:nvSpPr>
          <p:cNvPr id="19" name="Text 17"/>
          <p:cNvSpPr/>
          <p:nvPr/>
        </p:nvSpPr>
        <p:spPr>
          <a:xfrm>
            <a:off x="6492240"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Power BI Dashboard</a:t>
            </a:r>
            <a:endParaRPr lang="en-US" sz="1100" dirty="0"/>
          </a:p>
        </p:txBody>
      </p:sp>
      <p:sp>
        <p:nvSpPr>
          <p:cNvPr id="20" name="Shape 18"/>
          <p:cNvSpPr/>
          <p:nvPr/>
        </p:nvSpPr>
        <p:spPr>
          <a:xfrm>
            <a:off x="7543800" y="2560320"/>
            <a:ext cx="155448" cy="0"/>
          </a:xfrm>
          <a:prstGeom prst="line">
            <a:avLst/>
          </a:prstGeom>
          <a:noFill/>
          <a:ln w="25400">
            <a:solidFill>
              <a:srgbClr val="02C39A"/>
            </a:solidFill>
            <a:prstDash val="solid"/>
          </a:ln>
        </p:spPr>
      </p:sp>
      <p:sp>
        <p:nvSpPr>
          <p:cNvPr id="21" name="Shape 19"/>
          <p:cNvSpPr/>
          <p:nvPr/>
        </p:nvSpPr>
        <p:spPr>
          <a:xfrm>
            <a:off x="7699248" y="1097280"/>
            <a:ext cx="1051560" cy="2926080"/>
          </a:xfrm>
          <a:prstGeom prst="roundRect">
            <a:avLst>
              <a:gd name="adj" fmla="val 6957"/>
            </a:avLst>
          </a:prstGeom>
          <a:solidFill>
            <a:srgbClr val="60D394"/>
          </a:solidFill>
          <a:ln w="12700">
            <a:solidFill>
              <a:srgbClr val="60D394"/>
            </a:solidFill>
            <a:prstDash val="solid"/>
          </a:ln>
        </p:spPr>
      </p:sp>
      <p:sp>
        <p:nvSpPr>
          <p:cNvPr id="22" name="Text 20"/>
          <p:cNvSpPr/>
          <p:nvPr/>
        </p:nvSpPr>
        <p:spPr>
          <a:xfrm>
            <a:off x="7699248" y="1188720"/>
            <a:ext cx="1051560" cy="2743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Business Insights</a:t>
            </a:r>
            <a:endParaRPr lang="en-US" sz="1100" dirty="0"/>
          </a:p>
        </p:txBody>
      </p:sp>
      <p:sp>
        <p:nvSpPr>
          <p:cNvPr id="23" name="Text 21"/>
          <p:cNvSpPr/>
          <p:nvPr/>
        </p:nvSpPr>
        <p:spPr>
          <a:xfrm>
            <a:off x="457200" y="4297680"/>
            <a:ext cx="8229600" cy="594360"/>
          </a:xfrm>
          <a:prstGeom prst="rect">
            <a:avLst/>
          </a:prstGeom>
          <a:noFill/>
          <a:ln/>
        </p:spPr>
        <p:txBody>
          <a:bodyPr wrap="square"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This architecture enables efficient processing of large logistics datasets and transforms raw data into actionable insights.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Data Processing &amp; PySpark Workflow</a:t>
            </a:r>
            <a:endParaRPr lang="en-US" sz="2400" dirty="0"/>
          </a:p>
        </p:txBody>
      </p:sp>
      <p:sp>
        <p:nvSpPr>
          <p:cNvPr id="4" name="Shape 2"/>
          <p:cNvSpPr/>
          <p:nvPr/>
        </p:nvSpPr>
        <p:spPr>
          <a:xfrm>
            <a:off x="274320" y="914400"/>
            <a:ext cx="2743200" cy="3931920"/>
          </a:xfrm>
          <a:prstGeom prst="roundRect">
            <a:avLst>
              <a:gd name="adj" fmla="val 3333"/>
            </a:avLst>
          </a:prstGeom>
          <a:solidFill>
            <a:srgbClr val="FFF8EE"/>
          </a:solidFill>
          <a:ln w="12700">
            <a:solidFill>
              <a:srgbClr val="FFD9A0"/>
            </a:solidFill>
            <a:prstDash val="solid"/>
          </a:ln>
          <a:effectLst>
            <a:outerShdw sx="100000" sy="100000" kx="0" ky="0" algn="bl" rotWithShape="0" blurRad="76200" dist="25400" dir="2700000">
              <a:srgbClr val="000000">
                <a:alpha val="10000"/>
              </a:srgbClr>
            </a:outerShdw>
          </a:effectLst>
        </p:spPr>
      </p:sp>
      <p:sp>
        <p:nvSpPr>
          <p:cNvPr id="5" name="Text 3"/>
          <p:cNvSpPr/>
          <p:nvPr/>
        </p:nvSpPr>
        <p:spPr>
          <a:xfrm>
            <a:off x="365760" y="1005840"/>
            <a:ext cx="2560320" cy="45720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Data Preparation</a:t>
            </a:r>
            <a:endParaRPr lang="en-US" sz="1300" dirty="0"/>
          </a:p>
        </p:txBody>
      </p:sp>
      <p:sp>
        <p:nvSpPr>
          <p:cNvPr id="6" name="Text 4"/>
          <p:cNvSpPr/>
          <p:nvPr/>
        </p:nvSpPr>
        <p:spPr>
          <a:xfrm>
            <a:off x="365760" y="1554480"/>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Missing value handling</a:t>
            </a:r>
            <a:endParaRPr lang="en-US" sz="1200" dirty="0"/>
          </a:p>
        </p:txBody>
      </p:sp>
      <p:sp>
        <p:nvSpPr>
          <p:cNvPr id="7" name="Text 5"/>
          <p:cNvSpPr/>
          <p:nvPr/>
        </p:nvSpPr>
        <p:spPr>
          <a:xfrm>
            <a:off x="365760" y="2121408"/>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Duplicate removal</a:t>
            </a:r>
            <a:endParaRPr lang="en-US" sz="1200" dirty="0"/>
          </a:p>
        </p:txBody>
      </p:sp>
      <p:sp>
        <p:nvSpPr>
          <p:cNvPr id="8" name="Text 6"/>
          <p:cNvSpPr/>
          <p:nvPr/>
        </p:nvSpPr>
        <p:spPr>
          <a:xfrm>
            <a:off x="365760" y="2688336"/>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Data validation</a:t>
            </a:r>
            <a:endParaRPr lang="en-US" sz="1200" dirty="0"/>
          </a:p>
        </p:txBody>
      </p:sp>
      <p:sp>
        <p:nvSpPr>
          <p:cNvPr id="9" name="Text 7"/>
          <p:cNvSpPr/>
          <p:nvPr/>
        </p:nvSpPr>
        <p:spPr>
          <a:xfrm>
            <a:off x="365760" y="3255264"/>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Feature engineering</a:t>
            </a:r>
            <a:endParaRPr lang="en-US" sz="1200" dirty="0"/>
          </a:p>
        </p:txBody>
      </p:sp>
      <p:sp>
        <p:nvSpPr>
          <p:cNvPr id="10" name="Shape 8"/>
          <p:cNvSpPr/>
          <p:nvPr/>
        </p:nvSpPr>
        <p:spPr>
          <a:xfrm>
            <a:off x="3246120" y="914400"/>
            <a:ext cx="2743200" cy="3931920"/>
          </a:xfrm>
          <a:prstGeom prst="roundRect">
            <a:avLst>
              <a:gd name="adj" fmla="val 3333"/>
            </a:avLst>
          </a:prstGeom>
          <a:solidFill>
            <a:srgbClr val="EEF4FF"/>
          </a:solidFill>
          <a:ln w="12700">
            <a:solidFill>
              <a:srgbClr val="B5CFFF"/>
            </a:solidFill>
            <a:prstDash val="solid"/>
          </a:ln>
          <a:effectLst>
            <a:outerShdw sx="100000" sy="100000" kx="0" ky="0" algn="bl" rotWithShape="0" blurRad="76200" dist="25400" dir="2700000">
              <a:srgbClr val="000000">
                <a:alpha val="10000"/>
              </a:srgbClr>
            </a:outerShdw>
          </a:effectLst>
        </p:spPr>
      </p:sp>
      <p:sp>
        <p:nvSpPr>
          <p:cNvPr id="11" name="Text 9"/>
          <p:cNvSpPr/>
          <p:nvPr/>
        </p:nvSpPr>
        <p:spPr>
          <a:xfrm>
            <a:off x="3337560" y="1005840"/>
            <a:ext cx="2560320" cy="45720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PySpark Operations</a:t>
            </a:r>
            <a:endParaRPr lang="en-US" sz="1300" dirty="0"/>
          </a:p>
        </p:txBody>
      </p:sp>
      <p:sp>
        <p:nvSpPr>
          <p:cNvPr id="12" name="Text 10"/>
          <p:cNvSpPr/>
          <p:nvPr/>
        </p:nvSpPr>
        <p:spPr>
          <a:xfrm>
            <a:off x="3337560" y="1554480"/>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Data ingestion</a:t>
            </a:r>
            <a:endParaRPr lang="en-US" sz="1200" dirty="0"/>
          </a:p>
        </p:txBody>
      </p:sp>
      <p:sp>
        <p:nvSpPr>
          <p:cNvPr id="13" name="Text 11"/>
          <p:cNvSpPr/>
          <p:nvPr/>
        </p:nvSpPr>
        <p:spPr>
          <a:xfrm>
            <a:off x="3337560" y="2121408"/>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Data transformation</a:t>
            </a:r>
            <a:endParaRPr lang="en-US" sz="1200" dirty="0"/>
          </a:p>
        </p:txBody>
      </p:sp>
      <p:sp>
        <p:nvSpPr>
          <p:cNvPr id="14" name="Text 12"/>
          <p:cNvSpPr/>
          <p:nvPr/>
        </p:nvSpPr>
        <p:spPr>
          <a:xfrm>
            <a:off x="3337560" y="2688336"/>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Aggregation &amp; grouping</a:t>
            </a:r>
            <a:endParaRPr lang="en-US" sz="1200" dirty="0"/>
          </a:p>
        </p:txBody>
      </p:sp>
      <p:sp>
        <p:nvSpPr>
          <p:cNvPr id="15" name="Text 13"/>
          <p:cNvSpPr/>
          <p:nvPr/>
        </p:nvSpPr>
        <p:spPr>
          <a:xfrm>
            <a:off x="3337560" y="3255264"/>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KPI generation</a:t>
            </a:r>
            <a:endParaRPr lang="en-US" sz="1200" dirty="0"/>
          </a:p>
        </p:txBody>
      </p:sp>
      <p:sp>
        <p:nvSpPr>
          <p:cNvPr id="16" name="Text 14"/>
          <p:cNvSpPr/>
          <p:nvPr/>
        </p:nvSpPr>
        <p:spPr>
          <a:xfrm>
            <a:off x="3337560" y="3822192"/>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Export for visualization</a:t>
            </a:r>
            <a:endParaRPr lang="en-US" sz="1200" dirty="0"/>
          </a:p>
        </p:txBody>
      </p:sp>
      <p:sp>
        <p:nvSpPr>
          <p:cNvPr id="17" name="Shape 15"/>
          <p:cNvSpPr/>
          <p:nvPr/>
        </p:nvSpPr>
        <p:spPr>
          <a:xfrm>
            <a:off x="6217920" y="914400"/>
            <a:ext cx="2743200" cy="3931920"/>
          </a:xfrm>
          <a:prstGeom prst="roundRect">
            <a:avLst>
              <a:gd name="adj" fmla="val 3333"/>
            </a:avLst>
          </a:prstGeom>
          <a:solidFill>
            <a:srgbClr val="F0FBF5"/>
          </a:solidFill>
          <a:ln w="12700">
            <a:solidFill>
              <a:srgbClr val="A7E3C4"/>
            </a:solidFill>
            <a:prstDash val="solid"/>
          </a:ln>
          <a:effectLst>
            <a:outerShdw sx="100000" sy="100000" kx="0" ky="0" algn="bl" rotWithShape="0" blurRad="76200" dist="25400" dir="2700000">
              <a:srgbClr val="000000">
                <a:alpha val="10000"/>
              </a:srgbClr>
            </a:outerShdw>
          </a:effectLst>
        </p:spPr>
      </p:sp>
      <p:sp>
        <p:nvSpPr>
          <p:cNvPr id="18" name="Text 16"/>
          <p:cNvSpPr/>
          <p:nvPr/>
        </p:nvSpPr>
        <p:spPr>
          <a:xfrm>
            <a:off x="6309360" y="1005840"/>
            <a:ext cx="2560320" cy="45720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Benefits</a:t>
            </a:r>
            <a:endParaRPr lang="en-US" sz="1300" dirty="0"/>
          </a:p>
        </p:txBody>
      </p:sp>
      <p:sp>
        <p:nvSpPr>
          <p:cNvPr id="19" name="Text 17"/>
          <p:cNvSpPr/>
          <p:nvPr/>
        </p:nvSpPr>
        <p:spPr>
          <a:xfrm>
            <a:off x="6309360" y="1554480"/>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Faster processing</a:t>
            </a:r>
            <a:endParaRPr lang="en-US" sz="1200" dirty="0"/>
          </a:p>
        </p:txBody>
      </p:sp>
      <p:sp>
        <p:nvSpPr>
          <p:cNvPr id="20" name="Text 18"/>
          <p:cNvSpPr/>
          <p:nvPr/>
        </p:nvSpPr>
        <p:spPr>
          <a:xfrm>
            <a:off x="6309360" y="2121408"/>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High scalability</a:t>
            </a:r>
            <a:endParaRPr lang="en-US" sz="1200" dirty="0"/>
          </a:p>
        </p:txBody>
      </p:sp>
      <p:sp>
        <p:nvSpPr>
          <p:cNvPr id="21" name="Text 19"/>
          <p:cNvSpPr/>
          <p:nvPr/>
        </p:nvSpPr>
        <p:spPr>
          <a:xfrm>
            <a:off x="6309360" y="2688336"/>
            <a:ext cx="2468880" cy="5029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Handles large datasets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Key Analysis Performed</a:t>
            </a:r>
            <a:endParaRPr lang="en-US" sz="2600" dirty="0"/>
          </a:p>
        </p:txBody>
      </p:sp>
      <p:sp>
        <p:nvSpPr>
          <p:cNvPr id="4" name="Shape 2"/>
          <p:cNvSpPr/>
          <p:nvPr/>
        </p:nvSpPr>
        <p:spPr>
          <a:xfrm>
            <a:off x="274320" y="914400"/>
            <a:ext cx="2743200" cy="1828800"/>
          </a:xfrm>
          <a:prstGeom prst="roundRect">
            <a:avLst>
              <a:gd name="adj" fmla="val 5000"/>
            </a:avLst>
          </a:prstGeom>
          <a:solidFill>
            <a:srgbClr val="FFF8EE"/>
          </a:solidFill>
          <a:ln w="12700">
            <a:solidFill>
              <a:srgbClr val="FFD9A0"/>
            </a:solidFill>
            <a:prstDash val="solid"/>
          </a:ln>
          <a:effectLst>
            <a:outerShdw sx="100000" sy="100000" kx="0" ky="0" algn="bl" rotWithShape="0" blurRad="63500" dist="25400" dir="2700000">
              <a:srgbClr val="000000">
                <a:alpha val="10000"/>
              </a:srgbClr>
            </a:outerShdw>
          </a:effectLst>
        </p:spPr>
      </p:sp>
      <p:sp>
        <p:nvSpPr>
          <p:cNvPr id="5" name="Text 3"/>
          <p:cNvSpPr/>
          <p:nvPr/>
        </p:nvSpPr>
        <p:spPr>
          <a:xfrm>
            <a:off x="365760" y="1005840"/>
            <a:ext cx="2560320" cy="41148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Revenue Analysis</a:t>
            </a:r>
            <a:endParaRPr lang="en-US" sz="1300" dirty="0"/>
          </a:p>
        </p:txBody>
      </p:sp>
      <p:sp>
        <p:nvSpPr>
          <p:cNvPr id="6" name="Text 4"/>
          <p:cNvSpPr/>
          <p:nvPr/>
        </p:nvSpPr>
        <p:spPr>
          <a:xfrm>
            <a:off x="365760" y="1508760"/>
            <a:ext cx="25603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Total revenue trends</a:t>
            </a:r>
            <a:endParaRPr lang="en-US" sz="1200" dirty="0"/>
          </a:p>
        </p:txBody>
      </p:sp>
      <p:sp>
        <p:nvSpPr>
          <p:cNvPr id="7" name="Text 5"/>
          <p:cNvSpPr/>
          <p:nvPr/>
        </p:nvSpPr>
        <p:spPr>
          <a:xfrm>
            <a:off x="365760" y="1965960"/>
            <a:ext cx="25603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Product-wise revenue</a:t>
            </a:r>
            <a:endParaRPr lang="en-US" sz="1200" dirty="0"/>
          </a:p>
        </p:txBody>
      </p:sp>
      <p:sp>
        <p:nvSpPr>
          <p:cNvPr id="8" name="Shape 6"/>
          <p:cNvSpPr/>
          <p:nvPr/>
        </p:nvSpPr>
        <p:spPr>
          <a:xfrm>
            <a:off x="3154680" y="914400"/>
            <a:ext cx="2743200" cy="1828800"/>
          </a:xfrm>
          <a:prstGeom prst="roundRect">
            <a:avLst>
              <a:gd name="adj" fmla="val 5000"/>
            </a:avLst>
          </a:prstGeom>
          <a:solidFill>
            <a:srgbClr val="EEF4FF"/>
          </a:solidFill>
          <a:ln w="12700">
            <a:solidFill>
              <a:srgbClr val="B5CFFF"/>
            </a:solidFill>
            <a:prstDash val="solid"/>
          </a:ln>
          <a:effectLst>
            <a:outerShdw sx="100000" sy="100000" kx="0" ky="0" algn="bl" rotWithShape="0" blurRad="63500" dist="25400" dir="2700000">
              <a:srgbClr val="000000">
                <a:alpha val="10000"/>
              </a:srgbClr>
            </a:outerShdw>
          </a:effectLst>
        </p:spPr>
      </p:sp>
      <p:sp>
        <p:nvSpPr>
          <p:cNvPr id="9" name="Text 7"/>
          <p:cNvSpPr/>
          <p:nvPr/>
        </p:nvSpPr>
        <p:spPr>
          <a:xfrm>
            <a:off x="3246120" y="1005840"/>
            <a:ext cx="2560320" cy="41148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Transportation</a:t>
            </a:r>
            <a:endParaRPr lang="en-US" sz="1300" dirty="0"/>
          </a:p>
        </p:txBody>
      </p:sp>
      <p:sp>
        <p:nvSpPr>
          <p:cNvPr id="10" name="Text 8"/>
          <p:cNvSpPr/>
          <p:nvPr/>
        </p:nvSpPr>
        <p:spPr>
          <a:xfrm>
            <a:off x="3246120" y="1508760"/>
            <a:ext cx="25603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Shipping cost analysis</a:t>
            </a:r>
            <a:endParaRPr lang="en-US" sz="1200" dirty="0"/>
          </a:p>
        </p:txBody>
      </p:sp>
      <p:sp>
        <p:nvSpPr>
          <p:cNvPr id="11" name="Text 9"/>
          <p:cNvSpPr/>
          <p:nvPr/>
        </p:nvSpPr>
        <p:spPr>
          <a:xfrm>
            <a:off x="3246120" y="1965960"/>
            <a:ext cx="25603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Delivery performance</a:t>
            </a:r>
            <a:endParaRPr lang="en-US" sz="1200" dirty="0"/>
          </a:p>
        </p:txBody>
      </p:sp>
      <p:sp>
        <p:nvSpPr>
          <p:cNvPr id="12" name="Shape 10"/>
          <p:cNvSpPr/>
          <p:nvPr/>
        </p:nvSpPr>
        <p:spPr>
          <a:xfrm>
            <a:off x="6035040" y="914400"/>
            <a:ext cx="2743200" cy="1828800"/>
          </a:xfrm>
          <a:prstGeom prst="roundRect">
            <a:avLst>
              <a:gd name="adj" fmla="val 5000"/>
            </a:avLst>
          </a:prstGeom>
          <a:solidFill>
            <a:srgbClr val="F0FBF5"/>
          </a:solidFill>
          <a:ln w="12700">
            <a:solidFill>
              <a:srgbClr val="A7E3C4"/>
            </a:solidFill>
            <a:prstDash val="solid"/>
          </a:ln>
          <a:effectLst>
            <a:outerShdw sx="100000" sy="100000" kx="0" ky="0" algn="bl" rotWithShape="0" blurRad="63500" dist="25400" dir="2700000">
              <a:srgbClr val="000000">
                <a:alpha val="10000"/>
              </a:srgbClr>
            </a:outerShdw>
          </a:effectLst>
        </p:spPr>
      </p:sp>
      <p:sp>
        <p:nvSpPr>
          <p:cNvPr id="13" name="Text 11"/>
          <p:cNvSpPr/>
          <p:nvPr/>
        </p:nvSpPr>
        <p:spPr>
          <a:xfrm>
            <a:off x="6126480" y="1005840"/>
            <a:ext cx="2560320" cy="41148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Inventory Analysis</a:t>
            </a:r>
            <a:endParaRPr lang="en-US" sz="1300" dirty="0"/>
          </a:p>
        </p:txBody>
      </p:sp>
      <p:sp>
        <p:nvSpPr>
          <p:cNvPr id="14" name="Text 12"/>
          <p:cNvSpPr/>
          <p:nvPr/>
        </p:nvSpPr>
        <p:spPr>
          <a:xfrm>
            <a:off x="6126480" y="1508760"/>
            <a:ext cx="25603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Stock monitoring</a:t>
            </a:r>
            <a:endParaRPr lang="en-US" sz="1200" dirty="0"/>
          </a:p>
        </p:txBody>
      </p:sp>
      <p:sp>
        <p:nvSpPr>
          <p:cNvPr id="15" name="Text 13"/>
          <p:cNvSpPr/>
          <p:nvPr/>
        </p:nvSpPr>
        <p:spPr>
          <a:xfrm>
            <a:off x="6126480" y="1965960"/>
            <a:ext cx="25603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Inventory turnover</a:t>
            </a:r>
            <a:endParaRPr lang="en-US" sz="1200" dirty="0"/>
          </a:p>
        </p:txBody>
      </p:sp>
      <p:sp>
        <p:nvSpPr>
          <p:cNvPr id="16" name="Shape 14"/>
          <p:cNvSpPr/>
          <p:nvPr/>
        </p:nvSpPr>
        <p:spPr>
          <a:xfrm>
            <a:off x="1280160" y="3017520"/>
            <a:ext cx="3200400" cy="1828800"/>
          </a:xfrm>
          <a:prstGeom prst="roundRect">
            <a:avLst>
              <a:gd name="adj" fmla="val 5000"/>
            </a:avLst>
          </a:prstGeom>
          <a:solidFill>
            <a:srgbClr val="FFF0F6"/>
          </a:solidFill>
          <a:ln w="12700">
            <a:solidFill>
              <a:srgbClr val="FFB3D4"/>
            </a:solidFill>
            <a:prstDash val="solid"/>
          </a:ln>
          <a:effectLst>
            <a:outerShdw sx="100000" sy="100000" kx="0" ky="0" algn="bl" rotWithShape="0" blurRad="63500" dist="25400" dir="2700000">
              <a:srgbClr val="000000">
                <a:alpha val="10000"/>
              </a:srgbClr>
            </a:outerShdw>
          </a:effectLst>
        </p:spPr>
      </p:sp>
      <p:sp>
        <p:nvSpPr>
          <p:cNvPr id="17" name="Text 15"/>
          <p:cNvSpPr/>
          <p:nvPr/>
        </p:nvSpPr>
        <p:spPr>
          <a:xfrm>
            <a:off x="1371600" y="3108960"/>
            <a:ext cx="3017520" cy="41148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Supplier Performance</a:t>
            </a:r>
            <a:endParaRPr lang="en-US" sz="1300" dirty="0"/>
          </a:p>
        </p:txBody>
      </p:sp>
      <p:sp>
        <p:nvSpPr>
          <p:cNvPr id="18" name="Text 16"/>
          <p:cNvSpPr/>
          <p:nvPr/>
        </p:nvSpPr>
        <p:spPr>
          <a:xfrm>
            <a:off x="1371600" y="3611880"/>
            <a:ext cx="30175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Rating comparison</a:t>
            </a:r>
            <a:endParaRPr lang="en-US" sz="1200" dirty="0"/>
          </a:p>
        </p:txBody>
      </p:sp>
      <p:sp>
        <p:nvSpPr>
          <p:cNvPr id="19" name="Text 17"/>
          <p:cNvSpPr/>
          <p:nvPr/>
        </p:nvSpPr>
        <p:spPr>
          <a:xfrm>
            <a:off x="1371600" y="4069080"/>
            <a:ext cx="30175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Delivery efficiency</a:t>
            </a:r>
            <a:endParaRPr lang="en-US" sz="1200" dirty="0"/>
          </a:p>
        </p:txBody>
      </p:sp>
      <p:sp>
        <p:nvSpPr>
          <p:cNvPr id="20" name="Shape 18"/>
          <p:cNvSpPr/>
          <p:nvPr/>
        </p:nvSpPr>
        <p:spPr>
          <a:xfrm>
            <a:off x="4526280" y="3017520"/>
            <a:ext cx="3200400" cy="1828800"/>
          </a:xfrm>
          <a:prstGeom prst="roundRect">
            <a:avLst>
              <a:gd name="adj" fmla="val 5000"/>
            </a:avLst>
          </a:prstGeom>
          <a:solidFill>
            <a:srgbClr val="F5F0FF"/>
          </a:solidFill>
          <a:ln w="12700">
            <a:solidFill>
              <a:srgbClr val="C9B3FF"/>
            </a:solidFill>
            <a:prstDash val="solid"/>
          </a:ln>
          <a:effectLst>
            <a:outerShdw sx="100000" sy="100000" kx="0" ky="0" algn="bl" rotWithShape="0" blurRad="63500" dist="25400" dir="2700000">
              <a:srgbClr val="000000">
                <a:alpha val="10000"/>
              </a:srgbClr>
            </a:outerShdw>
          </a:effectLst>
        </p:spPr>
      </p:sp>
      <p:sp>
        <p:nvSpPr>
          <p:cNvPr id="21" name="Text 19"/>
          <p:cNvSpPr/>
          <p:nvPr/>
        </p:nvSpPr>
        <p:spPr>
          <a:xfrm>
            <a:off x="4617720" y="3108960"/>
            <a:ext cx="3017520" cy="411480"/>
          </a:xfrm>
          <a:prstGeom prst="rect">
            <a:avLst/>
          </a:prstGeom>
          <a:noFill/>
          <a:ln/>
        </p:spPr>
        <p:txBody>
          <a:bodyPr wrap="square"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  Demand Forecasting</a:t>
            </a:r>
            <a:endParaRPr lang="en-US" sz="1300" dirty="0"/>
          </a:p>
        </p:txBody>
      </p:sp>
      <p:sp>
        <p:nvSpPr>
          <p:cNvPr id="22" name="Text 20"/>
          <p:cNvSpPr/>
          <p:nvPr/>
        </p:nvSpPr>
        <p:spPr>
          <a:xfrm>
            <a:off x="4617720" y="3611880"/>
            <a:ext cx="30175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Future demand prediction</a:t>
            </a:r>
            <a:endParaRPr lang="en-US" sz="1200" dirty="0"/>
          </a:p>
        </p:txBody>
      </p:sp>
      <p:sp>
        <p:nvSpPr>
          <p:cNvPr id="23" name="Text 21"/>
          <p:cNvSpPr/>
          <p:nvPr/>
        </p:nvSpPr>
        <p:spPr>
          <a:xfrm>
            <a:off x="4617720" y="4069080"/>
            <a:ext cx="3017520" cy="41148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Trend analysis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Power BI Dashboard &amp; KPIs</a:t>
            </a:r>
            <a:endParaRPr lang="en-US" sz="2600" dirty="0"/>
          </a:p>
        </p:txBody>
      </p:sp>
      <p:sp>
        <p:nvSpPr>
          <p:cNvPr id="4" name="Shape 2"/>
          <p:cNvSpPr/>
          <p:nvPr/>
        </p:nvSpPr>
        <p:spPr>
          <a:xfrm>
            <a:off x="274320" y="914400"/>
            <a:ext cx="3840480" cy="3840480"/>
          </a:xfrm>
          <a:prstGeom prst="roundRect">
            <a:avLst>
              <a:gd name="adj" fmla="val 2381"/>
            </a:avLst>
          </a:prstGeom>
          <a:solidFill>
            <a:srgbClr val="EFF7FF"/>
          </a:solidFill>
          <a:ln w="12700">
            <a:solidFill>
              <a:srgbClr val="C5DFF8"/>
            </a:solidFill>
            <a:prstDash val="solid"/>
          </a:ln>
        </p:spPr>
      </p:sp>
      <p:sp>
        <p:nvSpPr>
          <p:cNvPr id="5" name="Text 3"/>
          <p:cNvSpPr/>
          <p:nvPr/>
        </p:nvSpPr>
        <p:spPr>
          <a:xfrm>
            <a:off x="457200" y="1005840"/>
            <a:ext cx="3474720" cy="411480"/>
          </a:xfrm>
          <a:prstGeom prst="rect">
            <a:avLst/>
          </a:prstGeom>
          <a:noFill/>
          <a:ln/>
        </p:spPr>
        <p:txBody>
          <a:bodyPr wrap="square"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Dashboard Features</a:t>
            </a:r>
            <a:endParaRPr lang="en-US" sz="1500" dirty="0"/>
          </a:p>
        </p:txBody>
      </p:sp>
      <p:sp>
        <p:nvSpPr>
          <p:cNvPr id="6" name="Text 4"/>
          <p:cNvSpPr/>
          <p:nvPr/>
        </p:nvSpPr>
        <p:spPr>
          <a:xfrm>
            <a:off x="457200" y="1554480"/>
            <a:ext cx="347472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Interactive filters</a:t>
            </a:r>
            <a:endParaRPr lang="en-US" sz="1300" dirty="0"/>
          </a:p>
        </p:txBody>
      </p:sp>
      <p:sp>
        <p:nvSpPr>
          <p:cNvPr id="7" name="Text 5"/>
          <p:cNvSpPr/>
          <p:nvPr/>
        </p:nvSpPr>
        <p:spPr>
          <a:xfrm>
            <a:off x="457200" y="2121408"/>
            <a:ext cx="347472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Drill-down analysis</a:t>
            </a:r>
            <a:endParaRPr lang="en-US" sz="1300" dirty="0"/>
          </a:p>
        </p:txBody>
      </p:sp>
      <p:sp>
        <p:nvSpPr>
          <p:cNvPr id="8" name="Text 6"/>
          <p:cNvSpPr/>
          <p:nvPr/>
        </p:nvSpPr>
        <p:spPr>
          <a:xfrm>
            <a:off x="457200" y="2688336"/>
            <a:ext cx="347472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Dynamic visualizations</a:t>
            </a:r>
            <a:endParaRPr lang="en-US" sz="1300" dirty="0"/>
          </a:p>
        </p:txBody>
      </p:sp>
      <p:sp>
        <p:nvSpPr>
          <p:cNvPr id="9" name="Text 7"/>
          <p:cNvSpPr/>
          <p:nvPr/>
        </p:nvSpPr>
        <p:spPr>
          <a:xfrm>
            <a:off x="457200" y="3255264"/>
            <a:ext cx="347472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Real-time KPI monitoring</a:t>
            </a:r>
            <a:endParaRPr lang="en-US" sz="1300" dirty="0"/>
          </a:p>
        </p:txBody>
      </p:sp>
      <p:sp>
        <p:nvSpPr>
          <p:cNvPr id="10" name="Text 8"/>
          <p:cNvSpPr/>
          <p:nvPr/>
        </p:nvSpPr>
        <p:spPr>
          <a:xfrm>
            <a:off x="4572000" y="914400"/>
            <a:ext cx="4297680" cy="411480"/>
          </a:xfrm>
          <a:prstGeom prst="rect">
            <a:avLst/>
          </a:prstGeom>
          <a:noFill/>
          <a:ln/>
        </p:spPr>
        <p:txBody>
          <a:bodyPr wrap="square"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Key Performance Indicators</a:t>
            </a:r>
            <a:endParaRPr lang="en-US" sz="1500" dirty="0"/>
          </a:p>
        </p:txBody>
      </p:sp>
      <p:sp>
        <p:nvSpPr>
          <p:cNvPr id="11" name="Shape 9"/>
          <p:cNvSpPr/>
          <p:nvPr/>
        </p:nvSpPr>
        <p:spPr>
          <a:xfrm>
            <a:off x="4572000" y="1417320"/>
            <a:ext cx="1920240" cy="914400"/>
          </a:xfrm>
          <a:prstGeom prst="roundRect">
            <a:avLst>
              <a:gd name="adj" fmla="val 8000"/>
            </a:avLst>
          </a:prstGeom>
          <a:solidFill>
            <a:srgbClr val="EAFAF5"/>
          </a:solidFill>
          <a:ln w="12700">
            <a:solidFill>
              <a:srgbClr val="02C39A"/>
            </a:solidFill>
            <a:prstDash val="solid"/>
          </a:ln>
        </p:spPr>
      </p:sp>
      <p:sp>
        <p:nvSpPr>
          <p:cNvPr id="12" name="Text 10"/>
          <p:cNvSpPr/>
          <p:nvPr/>
        </p:nvSpPr>
        <p:spPr>
          <a:xfrm>
            <a:off x="4572000" y="1490472"/>
            <a:ext cx="192024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3" name="Text 11"/>
          <p:cNvSpPr/>
          <p:nvPr/>
        </p:nvSpPr>
        <p:spPr>
          <a:xfrm>
            <a:off x="4572000" y="1892808"/>
            <a:ext cx="1920240" cy="347472"/>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Total Revenue</a:t>
            </a:r>
            <a:endParaRPr lang="en-US" sz="1100" dirty="0"/>
          </a:p>
        </p:txBody>
      </p:sp>
      <p:sp>
        <p:nvSpPr>
          <p:cNvPr id="14" name="Shape 12"/>
          <p:cNvSpPr/>
          <p:nvPr/>
        </p:nvSpPr>
        <p:spPr>
          <a:xfrm>
            <a:off x="6675120" y="1417320"/>
            <a:ext cx="1920240" cy="914400"/>
          </a:xfrm>
          <a:prstGeom prst="roundRect">
            <a:avLst>
              <a:gd name="adj" fmla="val 8000"/>
            </a:avLst>
          </a:prstGeom>
          <a:solidFill>
            <a:srgbClr val="EAFAF5"/>
          </a:solidFill>
          <a:ln w="12700">
            <a:solidFill>
              <a:srgbClr val="02C39A"/>
            </a:solidFill>
            <a:prstDash val="solid"/>
          </a:ln>
        </p:spPr>
      </p:sp>
      <p:sp>
        <p:nvSpPr>
          <p:cNvPr id="15" name="Text 13"/>
          <p:cNvSpPr/>
          <p:nvPr/>
        </p:nvSpPr>
        <p:spPr>
          <a:xfrm>
            <a:off x="6675120" y="1490472"/>
            <a:ext cx="192024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6675120" y="1892808"/>
            <a:ext cx="1920240" cy="347472"/>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Products Sold</a:t>
            </a:r>
            <a:endParaRPr lang="en-US" sz="1100" dirty="0"/>
          </a:p>
        </p:txBody>
      </p:sp>
      <p:sp>
        <p:nvSpPr>
          <p:cNvPr id="17" name="Shape 15"/>
          <p:cNvSpPr/>
          <p:nvPr/>
        </p:nvSpPr>
        <p:spPr>
          <a:xfrm>
            <a:off x="4572000" y="2514600"/>
            <a:ext cx="1920240" cy="914400"/>
          </a:xfrm>
          <a:prstGeom prst="roundRect">
            <a:avLst>
              <a:gd name="adj" fmla="val 8000"/>
            </a:avLst>
          </a:prstGeom>
          <a:solidFill>
            <a:srgbClr val="EAFAF5"/>
          </a:solidFill>
          <a:ln w="12700">
            <a:solidFill>
              <a:srgbClr val="02C39A"/>
            </a:solidFill>
            <a:prstDash val="solid"/>
          </a:ln>
        </p:spPr>
      </p:sp>
      <p:sp>
        <p:nvSpPr>
          <p:cNvPr id="18" name="Text 16"/>
          <p:cNvSpPr/>
          <p:nvPr/>
        </p:nvSpPr>
        <p:spPr>
          <a:xfrm>
            <a:off x="4572000" y="2587752"/>
            <a:ext cx="192024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4572000" y="2990088"/>
            <a:ext cx="1920240" cy="347472"/>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Avg Shipping Cost</a:t>
            </a:r>
            <a:endParaRPr lang="en-US" sz="1100" dirty="0"/>
          </a:p>
        </p:txBody>
      </p:sp>
      <p:sp>
        <p:nvSpPr>
          <p:cNvPr id="20" name="Shape 18"/>
          <p:cNvSpPr/>
          <p:nvPr/>
        </p:nvSpPr>
        <p:spPr>
          <a:xfrm>
            <a:off x="6675120" y="2514600"/>
            <a:ext cx="1920240" cy="914400"/>
          </a:xfrm>
          <a:prstGeom prst="roundRect">
            <a:avLst>
              <a:gd name="adj" fmla="val 8000"/>
            </a:avLst>
          </a:prstGeom>
          <a:solidFill>
            <a:srgbClr val="EAFAF5"/>
          </a:solidFill>
          <a:ln w="12700">
            <a:solidFill>
              <a:srgbClr val="02C39A"/>
            </a:solidFill>
            <a:prstDash val="solid"/>
          </a:ln>
        </p:spPr>
      </p:sp>
      <p:sp>
        <p:nvSpPr>
          <p:cNvPr id="21" name="Text 19"/>
          <p:cNvSpPr/>
          <p:nvPr/>
        </p:nvSpPr>
        <p:spPr>
          <a:xfrm>
            <a:off x="6675120" y="2587752"/>
            <a:ext cx="192024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6675120" y="2990088"/>
            <a:ext cx="1920240" cy="347472"/>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Avg Stock Level</a:t>
            </a:r>
            <a:endParaRPr lang="en-US" sz="1100" dirty="0"/>
          </a:p>
        </p:txBody>
      </p:sp>
      <p:sp>
        <p:nvSpPr>
          <p:cNvPr id="23" name="Shape 21"/>
          <p:cNvSpPr/>
          <p:nvPr/>
        </p:nvSpPr>
        <p:spPr>
          <a:xfrm>
            <a:off x="4572000" y="3611880"/>
            <a:ext cx="1920240" cy="914400"/>
          </a:xfrm>
          <a:prstGeom prst="roundRect">
            <a:avLst>
              <a:gd name="adj" fmla="val 8000"/>
            </a:avLst>
          </a:prstGeom>
          <a:solidFill>
            <a:srgbClr val="EAFAF5"/>
          </a:solidFill>
          <a:ln w="12700">
            <a:solidFill>
              <a:srgbClr val="02C39A"/>
            </a:solidFill>
            <a:prstDash val="solid"/>
          </a:ln>
        </p:spPr>
      </p:sp>
      <p:sp>
        <p:nvSpPr>
          <p:cNvPr id="24" name="Text 22"/>
          <p:cNvSpPr/>
          <p:nvPr/>
        </p:nvSpPr>
        <p:spPr>
          <a:xfrm>
            <a:off x="4572000" y="3685032"/>
            <a:ext cx="192024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5" name="Text 23"/>
          <p:cNvSpPr/>
          <p:nvPr/>
        </p:nvSpPr>
        <p:spPr>
          <a:xfrm>
            <a:off x="4572000" y="4087368"/>
            <a:ext cx="1920240" cy="347472"/>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Supplier Score</a:t>
            </a:r>
            <a:endParaRPr lang="en-US" sz="1100" dirty="0"/>
          </a:p>
        </p:txBody>
      </p:sp>
      <p:sp>
        <p:nvSpPr>
          <p:cNvPr id="26" name="Shape 24"/>
          <p:cNvSpPr/>
          <p:nvPr/>
        </p:nvSpPr>
        <p:spPr>
          <a:xfrm>
            <a:off x="6675120" y="3611880"/>
            <a:ext cx="1920240" cy="914400"/>
          </a:xfrm>
          <a:prstGeom prst="roundRect">
            <a:avLst>
              <a:gd name="adj" fmla="val 8000"/>
            </a:avLst>
          </a:prstGeom>
          <a:solidFill>
            <a:srgbClr val="EAFAF5"/>
          </a:solidFill>
          <a:ln w="12700">
            <a:solidFill>
              <a:srgbClr val="02C39A"/>
            </a:solidFill>
            <a:prstDash val="solid"/>
          </a:ln>
        </p:spPr>
      </p:sp>
      <p:sp>
        <p:nvSpPr>
          <p:cNvPr id="27" name="Text 25"/>
          <p:cNvSpPr/>
          <p:nvPr/>
        </p:nvSpPr>
        <p:spPr>
          <a:xfrm>
            <a:off x="6675120" y="3685032"/>
            <a:ext cx="192024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6675120" y="4087368"/>
            <a:ext cx="1920240" cy="347472"/>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Demand Forecast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8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w="12700">
            <a:solidFill>
              <a:srgbClr val="0A1628"/>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Results &amp; Learning Outcomes</a:t>
            </a:r>
            <a:endParaRPr lang="en-US" sz="2600" dirty="0"/>
          </a:p>
        </p:txBody>
      </p:sp>
      <p:sp>
        <p:nvSpPr>
          <p:cNvPr id="4" name="Shape 2"/>
          <p:cNvSpPr/>
          <p:nvPr/>
        </p:nvSpPr>
        <p:spPr>
          <a:xfrm>
            <a:off x="274320" y="914400"/>
            <a:ext cx="4023360" cy="3931920"/>
          </a:xfrm>
          <a:prstGeom prst="roundRect">
            <a:avLst>
              <a:gd name="adj" fmla="val 2326"/>
            </a:avLst>
          </a:prstGeom>
          <a:solidFill>
            <a:srgbClr val="F0FBF5"/>
          </a:solidFill>
          <a:ln w="12700">
            <a:solidFill>
              <a:srgbClr val="A7E3C4"/>
            </a:solidFill>
            <a:prstDash val="solid"/>
          </a:ln>
        </p:spPr>
      </p:sp>
      <p:sp>
        <p:nvSpPr>
          <p:cNvPr id="5" name="Text 3"/>
          <p:cNvSpPr/>
          <p:nvPr/>
        </p:nvSpPr>
        <p:spPr>
          <a:xfrm>
            <a:off x="457200" y="1005840"/>
            <a:ext cx="3657600" cy="411480"/>
          </a:xfrm>
          <a:prstGeom prst="rect">
            <a:avLst/>
          </a:prstGeom>
          <a:noFill/>
          <a:ln/>
        </p:spPr>
        <p:txBody>
          <a:bodyPr wrap="square" rtlCol="0" anchor="ctr"/>
          <a:lstStyle/>
          <a:p>
            <a:pPr indent="0" marL="0">
              <a:buNone/>
            </a:pPr>
            <a:r>
              <a:rPr lang="en-US" sz="1500" b="1" dirty="0">
                <a:solidFill>
                  <a:srgbClr val="1A7A45"/>
                </a:solidFill>
                <a:latin typeface="Cambria" pitchFamily="34" charset="0"/>
                <a:ea typeface="Cambria" pitchFamily="34" charset="-122"/>
                <a:cs typeface="Cambria" pitchFamily="34" charset="-120"/>
              </a:rPr>
              <a:t>📋  Project Results</a:t>
            </a:r>
            <a:endParaRPr lang="en-US" sz="1500" dirty="0"/>
          </a:p>
        </p:txBody>
      </p:sp>
      <p:sp>
        <p:nvSpPr>
          <p:cNvPr id="6" name="Text 4"/>
          <p:cNvSpPr/>
          <p:nvPr/>
        </p:nvSpPr>
        <p:spPr>
          <a:xfrm>
            <a:off x="457200" y="1508760"/>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Improved supply chain visibility</a:t>
            </a:r>
            <a:endParaRPr lang="en-US" sz="1300" dirty="0"/>
          </a:p>
        </p:txBody>
      </p:sp>
      <p:sp>
        <p:nvSpPr>
          <p:cNvPr id="7" name="Text 5"/>
          <p:cNvSpPr/>
          <p:nvPr/>
        </p:nvSpPr>
        <p:spPr>
          <a:xfrm>
            <a:off x="457200" y="2075688"/>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Better inventory planning</a:t>
            </a:r>
            <a:endParaRPr lang="en-US" sz="1300" dirty="0"/>
          </a:p>
        </p:txBody>
      </p:sp>
      <p:sp>
        <p:nvSpPr>
          <p:cNvPr id="8" name="Text 6"/>
          <p:cNvSpPr/>
          <p:nvPr/>
        </p:nvSpPr>
        <p:spPr>
          <a:xfrm>
            <a:off x="457200" y="2642616"/>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Identification of high-cost routes</a:t>
            </a:r>
            <a:endParaRPr lang="en-US" sz="1300" dirty="0"/>
          </a:p>
        </p:txBody>
      </p:sp>
      <p:sp>
        <p:nvSpPr>
          <p:cNvPr id="9" name="Text 7"/>
          <p:cNvSpPr/>
          <p:nvPr/>
        </p:nvSpPr>
        <p:spPr>
          <a:xfrm>
            <a:off x="457200" y="3209544"/>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Enhanced supplier evaluation</a:t>
            </a:r>
            <a:endParaRPr lang="en-US" sz="1300" dirty="0"/>
          </a:p>
        </p:txBody>
      </p:sp>
      <p:sp>
        <p:nvSpPr>
          <p:cNvPr id="10" name="Text 8"/>
          <p:cNvSpPr/>
          <p:nvPr/>
        </p:nvSpPr>
        <p:spPr>
          <a:xfrm>
            <a:off x="457200" y="3776472"/>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Support for strategic decisions</a:t>
            </a:r>
            <a:endParaRPr lang="en-US" sz="1300" dirty="0"/>
          </a:p>
        </p:txBody>
      </p:sp>
      <p:sp>
        <p:nvSpPr>
          <p:cNvPr id="11" name="Shape 9"/>
          <p:cNvSpPr/>
          <p:nvPr/>
        </p:nvSpPr>
        <p:spPr>
          <a:xfrm>
            <a:off x="4846320" y="914400"/>
            <a:ext cx="4023360" cy="3931920"/>
          </a:xfrm>
          <a:prstGeom prst="roundRect">
            <a:avLst>
              <a:gd name="adj" fmla="val 2326"/>
            </a:avLst>
          </a:prstGeom>
          <a:solidFill>
            <a:srgbClr val="EEF4FF"/>
          </a:solidFill>
          <a:ln w="12700">
            <a:solidFill>
              <a:srgbClr val="B5CFFF"/>
            </a:solidFill>
            <a:prstDash val="solid"/>
          </a:ln>
        </p:spPr>
      </p:sp>
      <p:sp>
        <p:nvSpPr>
          <p:cNvPr id="12" name="Text 10"/>
          <p:cNvSpPr/>
          <p:nvPr/>
        </p:nvSpPr>
        <p:spPr>
          <a:xfrm>
            <a:off x="5029200" y="1005840"/>
            <a:ext cx="3657600" cy="411480"/>
          </a:xfrm>
          <a:prstGeom prst="rect">
            <a:avLst/>
          </a:prstGeom>
          <a:noFill/>
          <a:ln/>
        </p:spPr>
        <p:txBody>
          <a:bodyPr wrap="square"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  Learning Outcomes</a:t>
            </a:r>
            <a:endParaRPr lang="en-US" sz="1500" dirty="0"/>
          </a:p>
        </p:txBody>
      </p:sp>
      <p:sp>
        <p:nvSpPr>
          <p:cNvPr id="13" name="Text 11"/>
          <p:cNvSpPr/>
          <p:nvPr/>
        </p:nvSpPr>
        <p:spPr>
          <a:xfrm>
            <a:off x="5029200" y="1508760"/>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PySpark Data Processing</a:t>
            </a:r>
            <a:endParaRPr lang="en-US" sz="1300" dirty="0"/>
          </a:p>
        </p:txBody>
      </p:sp>
      <p:sp>
        <p:nvSpPr>
          <p:cNvPr id="14" name="Text 12"/>
          <p:cNvSpPr/>
          <p:nvPr/>
        </p:nvSpPr>
        <p:spPr>
          <a:xfrm>
            <a:off x="5029200" y="2075688"/>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Power BI Dashboard Development</a:t>
            </a:r>
            <a:endParaRPr lang="en-US" sz="1300" dirty="0"/>
          </a:p>
        </p:txBody>
      </p:sp>
      <p:sp>
        <p:nvSpPr>
          <p:cNvPr id="15" name="Text 13"/>
          <p:cNvSpPr/>
          <p:nvPr/>
        </p:nvSpPr>
        <p:spPr>
          <a:xfrm>
            <a:off x="5029200" y="2642616"/>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Business Intelligence Concepts</a:t>
            </a:r>
            <a:endParaRPr lang="en-US" sz="1300" dirty="0"/>
          </a:p>
        </p:txBody>
      </p:sp>
      <p:sp>
        <p:nvSpPr>
          <p:cNvPr id="16" name="Text 14"/>
          <p:cNvSpPr/>
          <p:nvPr/>
        </p:nvSpPr>
        <p:spPr>
          <a:xfrm>
            <a:off x="5029200" y="3209544"/>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Data Analytics Workflow</a:t>
            </a:r>
            <a:endParaRPr lang="en-US" sz="1300" dirty="0"/>
          </a:p>
        </p:txBody>
      </p:sp>
      <p:sp>
        <p:nvSpPr>
          <p:cNvPr id="17" name="Text 15"/>
          <p:cNvSpPr/>
          <p:nvPr/>
        </p:nvSpPr>
        <p:spPr>
          <a:xfrm>
            <a:off x="5029200" y="3776472"/>
            <a:ext cx="3657600" cy="5029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Real-world Project Experience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914400" y="2286000"/>
            <a:ext cx="4572000" cy="4572000"/>
          </a:xfrm>
          <a:prstGeom prst="ellipse">
            <a:avLst/>
          </a:prstGeom>
          <a:solidFill>
            <a:srgbClr val="065A82">
              <a:alpha val="20000"/>
            </a:srgbClr>
          </a:solidFill>
          <a:ln w="12700">
            <a:solidFill>
              <a:srgbClr val="065A82">
                <a:alpha val="20000"/>
              </a:srgbClr>
            </a:solidFill>
            <a:prstDash val="solid"/>
          </a:ln>
        </p:spPr>
      </p:sp>
      <p:sp>
        <p:nvSpPr>
          <p:cNvPr id="3" name="Shape 1"/>
          <p:cNvSpPr/>
          <p:nvPr/>
        </p:nvSpPr>
        <p:spPr>
          <a:xfrm>
            <a:off x="6858000" y="-914400"/>
            <a:ext cx="3657600" cy="3657600"/>
          </a:xfrm>
          <a:prstGeom prst="ellipse">
            <a:avLst/>
          </a:prstGeom>
          <a:solidFill>
            <a:srgbClr val="02C39A">
              <a:alpha val="18000"/>
            </a:srgbClr>
          </a:solidFill>
          <a:ln w="12700">
            <a:solidFill>
              <a:srgbClr val="02C39A">
                <a:alpha val="18000"/>
              </a:srgbClr>
            </a:solidFill>
            <a:prstDash val="solid"/>
          </a:ln>
        </p:spPr>
      </p:sp>
      <p:sp>
        <p:nvSpPr>
          <p:cNvPr id="4" name="Text 2"/>
          <p:cNvSpPr/>
          <p:nvPr/>
        </p:nvSpPr>
        <p:spPr>
          <a:xfrm>
            <a:off x="548640" y="320040"/>
            <a:ext cx="7772400" cy="59436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3"/>
          <p:cNvSpPr/>
          <p:nvPr/>
        </p:nvSpPr>
        <p:spPr>
          <a:xfrm>
            <a:off x="457200" y="1051560"/>
            <a:ext cx="8229600" cy="1737360"/>
          </a:xfrm>
          <a:prstGeom prst="roundRect">
            <a:avLst>
              <a:gd name="adj" fmla="val 5263"/>
            </a:avLst>
          </a:prstGeom>
          <a:solidFill>
            <a:srgbClr val="065A82">
              <a:alpha val="35000"/>
            </a:srgbClr>
          </a:solidFill>
          <a:ln w="12700">
            <a:solidFill>
              <a:srgbClr val="02C39A">
                <a:alpha val="60000"/>
              </a:srgbClr>
            </a:solidFill>
            <a:prstDash val="solid"/>
          </a:ln>
        </p:spPr>
      </p:sp>
      <p:sp>
        <p:nvSpPr>
          <p:cNvPr id="6" name="Text 4"/>
          <p:cNvSpPr/>
          <p:nvPr/>
        </p:nvSpPr>
        <p:spPr>
          <a:xfrm>
            <a:off x="640080" y="1143000"/>
            <a:ext cx="7863840" cy="1554480"/>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This project demonstrates how Big Data Analytics and Business Intelligence tools can optimize logistics and supply chain operations. By leveraging PySpark and Power BI, the solution provides valuable insights that improve efficiency, reduce costs, and support data-driven business decisions.</a:t>
            </a:r>
            <a:endParaRPr lang="en-US" sz="1300" dirty="0"/>
          </a:p>
        </p:txBody>
      </p:sp>
      <p:sp>
        <p:nvSpPr>
          <p:cNvPr id="7" name="Text 5"/>
          <p:cNvSpPr/>
          <p:nvPr/>
        </p:nvSpPr>
        <p:spPr>
          <a:xfrm>
            <a:off x="548640" y="3063240"/>
            <a:ext cx="8229600" cy="868680"/>
          </a:xfrm>
          <a:prstGeom prst="rect">
            <a:avLst/>
          </a:prstGeom>
          <a:noFill/>
          <a:ln/>
        </p:spPr>
        <p:txBody>
          <a:bodyPr wrap="square" rtlCol="0" anchor="ctr"/>
          <a:lstStyle/>
          <a:p>
            <a:pPr algn="ctr" indent="0" marL="0">
              <a:buNone/>
            </a:pPr>
            <a:r>
              <a:rPr lang="en-US" sz="4800" b="1" dirty="0">
                <a:solidFill>
                  <a:srgbClr val="02C39A"/>
                </a:solidFill>
                <a:latin typeface="Cambria" pitchFamily="34" charset="0"/>
                <a:ea typeface="Cambria" pitchFamily="34" charset="-122"/>
                <a:cs typeface="Cambria" pitchFamily="34" charset="-120"/>
              </a:rPr>
              <a:t>Thank You</a:t>
            </a:r>
            <a:endParaRPr lang="en-US" sz="4800" dirty="0"/>
          </a:p>
        </p:txBody>
      </p:sp>
      <p:sp>
        <p:nvSpPr>
          <p:cNvPr id="8" name="Text 6"/>
          <p:cNvSpPr/>
          <p:nvPr/>
        </p:nvSpPr>
        <p:spPr>
          <a:xfrm>
            <a:off x="548640" y="3977640"/>
            <a:ext cx="8229600" cy="457200"/>
          </a:xfrm>
          <a:prstGeom prst="rect">
            <a:avLst/>
          </a:prstGeom>
          <a:noFill/>
          <a:ln/>
        </p:spPr>
        <p:txBody>
          <a:bodyPr wrap="square" rtlCol="0" anchor="ctr"/>
          <a:lstStyle/>
          <a:p>
            <a:pPr algn="ctr" indent="0" marL="0">
              <a:buNone/>
            </a:pPr>
            <a:r>
              <a:rPr lang="en-US" sz="1800" i="1" dirty="0">
                <a:solidFill>
                  <a:srgbClr val="94A3B8"/>
                </a:solidFill>
                <a:latin typeface="Calibri" pitchFamily="34" charset="0"/>
                <a:ea typeface="Calibri" pitchFamily="34" charset="-122"/>
                <a:cs typeface="Calibri" pitchFamily="34" charset="-120"/>
              </a:rPr>
              <a:t>Questions &amp; Discussion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Logistics &amp; Supply Chain Analytics Dashboard</dc:title>
  <dc:subject>PptxGenJS Presentation</dc:subject>
  <dc:creator>Jayaprakasam</dc:creator>
  <cp:lastModifiedBy>Jayaprakasam</cp:lastModifiedBy>
  <cp:revision>1</cp:revision>
  <dcterms:created xsi:type="dcterms:W3CDTF">2026-06-10T01:16:00Z</dcterms:created>
  <dcterms:modified xsi:type="dcterms:W3CDTF">2026-06-10T01:16:00Z</dcterms:modified>
</cp:coreProperties>
</file>